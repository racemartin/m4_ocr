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Montserrat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158">
          <p15:clr>
            <a:srgbClr val="747775"/>
          </p15:clr>
        </p15:guide>
        <p15:guide id="2" orient="horz" pos="1963">
          <p15:clr>
            <a:srgbClr val="747775"/>
          </p15:clr>
        </p15:guide>
        <p15:guide id="3" pos="3484">
          <p15:clr>
            <a:srgbClr val="747775"/>
          </p15:clr>
        </p15:guide>
        <p15:guide id="4" pos="5706">
          <p15:clr>
            <a:srgbClr val="747775"/>
          </p15:clr>
        </p15:guide>
        <p15:guide id="5" orient="horz" pos="57">
          <p15:clr>
            <a:srgbClr val="747775"/>
          </p15:clr>
        </p15:guide>
        <p15:guide id="6" pos="3903">
          <p15:clr>
            <a:srgbClr val="747775"/>
          </p15:clr>
        </p15:guide>
        <p15:guide id="7" orient="horz" pos="2324">
          <p15:clr>
            <a:srgbClr val="747775"/>
          </p15:clr>
        </p15:guide>
        <p15:guide id="8" orient="horz" pos="1247">
          <p15:clr>
            <a:srgbClr val="747775"/>
          </p15:clr>
        </p15:guide>
        <p15:guide id="9" orient="horz" pos="2122">
          <p15:clr>
            <a:srgbClr val="747775"/>
          </p15:clr>
        </p15:guide>
        <p15:guide id="10" pos="2880">
          <p15:clr>
            <a:srgbClr val="747775"/>
          </p15:clr>
        </p15:guide>
        <p15:guide id="11" orient="horz" pos="940">
          <p15:clr>
            <a:srgbClr val="747775"/>
          </p15:clr>
        </p15:guide>
      </p15:sldGuideLst>
    </p:ext>
    <p:ext uri="GoogleSlidesCustomDataVersion2">
      <go:slidesCustomData xmlns:go="http://customooxmlschemas.google.com/" r:id="rId50" roundtripDataSignature="AMtx7mguUAsbCz1WfhoS7Bd8coL8RO2e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8"/>
        <p:guide pos="1963" orient="horz"/>
        <p:guide pos="3484"/>
        <p:guide pos="5706"/>
        <p:guide pos="57" orient="horz"/>
        <p:guide pos="3903"/>
        <p:guide pos="2324" orient="horz"/>
        <p:guide pos="1247" orient="horz"/>
        <p:guide pos="2122" orient="horz"/>
        <p:guide pos="2880"/>
        <p:guide pos="9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Montserrat-regular.fntdata"/><Relationship Id="rId41" Type="http://schemas.openxmlformats.org/officeDocument/2006/relationships/slide" Target="slides/slide36.xml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Lato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9e9e769d4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b9e9e769d4_1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9e9e769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b9e9e769d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9e9e769d4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b9e9e769d4_1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9e9e769d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b9e9e769d4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9e9e769d4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b9e9e769d4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5321c3273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b5321c3273_0_8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9e9e769d4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b9e9e769d4_1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9e9e769d4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b9e9e769d4_1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9e9e769d4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b9e9e769d4_1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9e9e769d4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b9e9e769d4_1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9e9e769d4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b9e9e769d4_1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5321c3273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3b5321c3273_0_8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9e9e769d4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3b9e9e769d4_1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9e9e769d4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b9e9e769d4_1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9e9e769d4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g3b9e9e769d4_1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9e9e769d4_1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3b9e9e769d4_1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5321c3273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3b5321c3273_0_9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9e9e769d4_1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g3b9e9e769d4_1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9e9e769d4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b9e9e769d4_1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b9e9e769d4_1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g3b9e9e769d4_1_3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9e9e769d4_1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9" name="Google Shape;439;g3b9e9e769d4_1_3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ba12d0eeb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3ba12d0eeb1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a12d0eeb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g3ba12d0eeb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ba12d0eeb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g3ba12d0eeb1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a12d0eeb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7" name="Google Shape;507;g3ba12d0eeb1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6a26b60b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g3b6a26b60b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a12d0eeb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g3ba12d0eeb1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a12d0eeb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2" name="Google Shape;542;g3ba12d0eeb1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a12d0eeb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g3ba12d0eeb1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a12d0eeb1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g3ba12d0eeb1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3" name="Google Shape;61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5321c3273_0_739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b5321c3273_0_739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g3b5321c3273_0_739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b5321c3273_0_739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b5321c3273_0_739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b5321c3273_0_739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g3b5321c3273_0_739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g3b5321c3273_0_739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g3b5321c3273_0_7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b5321c3273_0_77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g3b5321c3273_0_77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g3b5321c3273_0_77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g3b5321c3273_0_77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g3b5321c3273_0_77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3b5321c3273_0_7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g3b5321c3273_0_799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28" name="Google Shape;28;g3b5321c3273_0_799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3b5321c3273_0_799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b5321c3273_0_799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b5321c3273_0_799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b5321c3273_0_799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b5321c3273_0_799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3b5321c3273_0_799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b5321c3273_0_799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b5321c3273_0_79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3b5321c3273_0_799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3b5321c3273_0_799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3b5321c3273_0_799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3b5321c3273_0_799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b5321c3273_0_799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b5321c3273_0_799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b5321c3273_0_799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b5321c3273_0_799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3b5321c3273_0_799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g3b5321c3273_0_799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g3b5321c3273_0_7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b5321c3273_0_749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50" name="Google Shape;50;g3b5321c3273_0_749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b5321c3273_0_749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b5321c3273_0_74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b5321c3273_0_749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b5321c3273_0_749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b5321c3273_0_749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b5321c3273_0_749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3b5321c3273_0_749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b5321c3273_0_74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b5321c3273_0_749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b5321c3273_0_749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b5321c3273_0_749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b5321c3273_0_74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b5321c3273_0_749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3b5321c3273_0_749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b5321c3273_0_749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b5321c3273_0_749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3b5321c3273_0_749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g3b5321c3273_0_74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g3b5321c3273_0_7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g3b5321c3273_0_77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72" name="Google Shape;72;g3b5321c3273_0_77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3b5321c3273_0_77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g3b5321c3273_0_77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g3b5321c3273_0_77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g3b5321c3273_0_77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7" name="Google Shape;77;g3b5321c3273_0_7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g3b5321c3273_0_78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0" name="Google Shape;80;g3b5321c3273_0_78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b5321c3273_0_78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g3b5321c3273_0_78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g3b5321c3273_0_7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g3b5321c3273_0_792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6" name="Google Shape;86;g3b5321c3273_0_79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3b5321c3273_0_79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g3b5321c3273_0_792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g3b5321c3273_0_792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g3b5321c3273_0_7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b5321c3273_0_82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g3b5321c3273_0_8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b5321c3273_0_8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g3b5321c3273_0_8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g3b5321c3273_0_8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g3b5321c3273_0_8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g3b5321c3273_0_8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b5321c3273_0_829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g3b5321c3273_0_829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b5321c3273_0_829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g3b5321c3273_0_829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g3b5321c3273_0_8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b5321c3273_0_83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g3b5321c3273_0_83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b5321c3273_0_83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b5321c3273_0_83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b5321c3273_0_83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b5321c3273_0_83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b5321c3273_0_83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b5321c3273_0_83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b5321c3273_0_83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b5321c3273_0_83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b5321c3273_0_83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b5321c3273_0_83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b5321c3273_0_83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b5321c3273_0_83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b5321c3273_0_83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b5321c3273_0_83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b5321c3273_0_83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b5321c3273_0_83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b5321c3273_0_83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g3b5321c3273_0_835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g3b5321c3273_0_835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g3b5321c3273_0_8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5321c3273_0_8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5321c3273_0_860"/>
          <p:cNvSpPr txBox="1"/>
          <p:nvPr>
            <p:ph type="title"/>
          </p:nvPr>
        </p:nvSpPr>
        <p:spPr>
          <a:xfrm>
            <a:off x="1297440" y="393840"/>
            <a:ext cx="70386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g3b5321c3273_0_860"/>
          <p:cNvSpPr txBox="1"/>
          <p:nvPr>
            <p:ph idx="1" type="subTitle"/>
          </p:nvPr>
        </p:nvSpPr>
        <p:spPr>
          <a:xfrm>
            <a:off x="1297440" y="1567440"/>
            <a:ext cx="7038600" cy="29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g3b5321c3273_0_860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5321c3273_0_7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b5321c3273_0_7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b5321c3273_0_7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5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"/>
          <p:cNvSpPr txBox="1"/>
          <p:nvPr>
            <p:ph type="ctrTitle"/>
          </p:nvPr>
        </p:nvSpPr>
        <p:spPr>
          <a:xfrm>
            <a:off x="3338500" y="1607625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des causes d'attrition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TechNova Partners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None/>
            </a:pPr>
            <a:r>
              <a:t/>
            </a:r>
            <a:endParaRPr/>
          </a:p>
        </p:txBody>
      </p:sp>
      <p:sp>
        <p:nvSpPr>
          <p:cNvPr id="139" name="Google Shape;139;p1"/>
          <p:cNvSpPr txBox="1"/>
          <p:nvPr>
            <p:ph idx="1" type="subTitle"/>
          </p:nvPr>
        </p:nvSpPr>
        <p:spPr>
          <a:xfrm>
            <a:off x="5083950" y="3924925"/>
            <a:ext cx="34707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59090"/>
              <a:buFont typeface="Lato"/>
              <a:buNone/>
            </a:pPr>
            <a:r>
              <a:rPr b="0" i="0" lang="fr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Rafael CEREZO MARTIN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4000"/>
              <a:buFont typeface="Lato"/>
              <a:buNone/>
            </a:pPr>
            <a:r>
              <a:rPr lang="fr" sz="1250"/>
              <a:t>Janvier</a:t>
            </a:r>
            <a:r>
              <a:rPr b="0" i="0" lang="fr" sz="12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202</a:t>
            </a:r>
            <a:r>
              <a:rPr lang="fr" sz="1250"/>
              <a:t>8</a:t>
            </a:r>
            <a:endParaRPr b="0" i="0" sz="12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2975" y="21285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>
            <p:ph type="title"/>
          </p:nvPr>
        </p:nvSpPr>
        <p:spPr>
          <a:xfrm>
            <a:off x="1272950" y="900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</a:pPr>
            <a:r>
              <a:rPr lang="fr"/>
              <a:t>Objectifs</a:t>
            </a:r>
            <a:r>
              <a:rPr b="0" lang="fr" sz="2400" u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du projet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 txBox="1"/>
          <p:nvPr>
            <p:ph idx="1" type="body"/>
          </p:nvPr>
        </p:nvSpPr>
        <p:spPr>
          <a:xfrm>
            <a:off x="96175" y="2384200"/>
            <a:ext cx="30066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0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Interlocuteurs clés</a:t>
            </a:r>
            <a:endParaRPr b="1" sz="10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Augustin Moser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 Responsable SIRH (fournit les données)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Amandine Rousset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 Manager Data Scientist (cadrage méthodologique)</a:t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 txBox="1"/>
          <p:nvPr>
            <p:ph idx="1" type="body"/>
          </p:nvPr>
        </p:nvSpPr>
        <p:spPr>
          <a:xfrm>
            <a:off x="1297025" y="855625"/>
            <a:ext cx="7317900" cy="12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Département demandeur :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Ressources Humaines (RH)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Problématique :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Taux de démission (turnover) anormalement élevé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Objectif principal :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Identifier les causes racines des démissions et proposer des leviers actionnable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 txBox="1"/>
          <p:nvPr>
            <p:ph idx="1" type="body"/>
          </p:nvPr>
        </p:nvSpPr>
        <p:spPr>
          <a:xfrm>
            <a:off x="3102775" y="2384200"/>
            <a:ext cx="2954400" cy="21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000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0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Approche méthodologique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Analyse exploratoire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: Identifier différences entre employés partis vs restés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Modélisation prédictive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: Classification pour scorer probabilité de démission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Interprétabilité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: Extraction des causes via package SHAP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 txBox="1"/>
          <p:nvPr>
            <p:ph idx="1" type="body"/>
          </p:nvPr>
        </p:nvSpPr>
        <p:spPr>
          <a:xfrm>
            <a:off x="6130650" y="2384200"/>
            <a:ext cx="2810100" cy="26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000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0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Données disponibles</a:t>
            </a:r>
            <a:endParaRPr b="1" sz="10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fichiers CSV provenant de sources différentes 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AutoNum type="arabicPeriod"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SIRH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: Fonction, âge, salaire, ancienneté, données sociodémographiques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AutoNum type="arabicPeriod"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Évaluations de performance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: Notes d'évaluation, satisfaction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AutoNum type="arabicPeriod"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Sondage bien-être</a:t>
            </a: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: Réponses annuelles + indicateur de départ (target)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1297440" y="393840"/>
            <a:ext cx="7038720" cy="686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</a:pPr>
            <a:r>
              <a:rPr b="0" lang="fr" sz="2400" u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Etapes du Projet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120" y="1620000"/>
            <a:ext cx="8579880" cy="3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4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Analyse Exploratoire</a:t>
            </a:r>
            <a:endParaRPr b="1"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ÉTAPE 1 : Nettoyage et exploration des données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1. Compréhension des données 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   (Verification &amp; Audit)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</a:t>
            </a:r>
            <a:r>
              <a:rPr b="1" lang="fr" sz="800">
                <a:solidFill>
                  <a:srgbClr val="999999"/>
                </a:solidFill>
              </a:rPr>
              <a:t>Générer</a:t>
            </a:r>
            <a:r>
              <a:rPr b="1" lang="fr" sz="800">
                <a:solidFill>
                  <a:srgbClr val="999999"/>
                </a:solidFill>
              </a:rPr>
              <a:t> des rapports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3. Fusion des fichiers 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(Consolidation avec Merge)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</a:t>
            </a:r>
            <a:r>
              <a:rPr b="1" lang="fr" sz="800">
                <a:solidFill>
                  <a:srgbClr val="999999"/>
                </a:solidFill>
              </a:rPr>
              <a:t>Générer</a:t>
            </a:r>
            <a:r>
              <a:rPr b="1" lang="fr" sz="800">
                <a:solidFill>
                  <a:srgbClr val="999999"/>
                </a:solidFill>
              </a:rPr>
              <a:t> rapport de la Consolidation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4. Analyse exploratoire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Préparation de la cible (Target Cleaning)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# Conversion en binaire pour les calculs (1 = Parti, 0 = Resté)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df_merged['attrition_binary'] = df_merged['a_quitte_l_entreprise'].map({'Oui': 1, 'Non': 0})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print(df_merged['attrition_binary'].describe())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6" name="Google Shape;16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250" y="112850"/>
            <a:ext cx="2745950" cy="358729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2650" y="160325"/>
            <a:ext cx="2008300" cy="9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9e9e769d4_1_69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g3b9e9e769d4_1_69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g3b9e9e769d4_1_69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Analyse Exploratoire</a:t>
            </a:r>
            <a:endParaRPr b="1"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175" name="Google Shape;175;g3b9e9e769d4_1_69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b9e9e769d4_1_69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ÉTAPE 1 : Nettoyage et exploration des données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1. Compréhension des données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(Verification &amp; Audit)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2. </a:t>
            </a:r>
            <a:r>
              <a:rPr b="1" lang="fr" sz="800">
                <a:solidFill>
                  <a:srgbClr val="FFFFFF"/>
                </a:solidFill>
              </a:rPr>
              <a:t>Générer</a:t>
            </a:r>
            <a:r>
              <a:rPr b="1" lang="fr" sz="800">
                <a:solidFill>
                  <a:srgbClr val="FFFFFF"/>
                </a:solidFill>
              </a:rPr>
              <a:t> des rapports 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    (ydata profiling)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3. Fusion des fichiers 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(Consolidation avec Merge)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</a:t>
            </a:r>
            <a:r>
              <a:rPr b="1" lang="fr" sz="800">
                <a:solidFill>
                  <a:srgbClr val="999999"/>
                </a:solidFill>
              </a:rPr>
              <a:t>Générer</a:t>
            </a:r>
            <a:r>
              <a:rPr b="1" lang="fr" sz="800">
                <a:solidFill>
                  <a:srgbClr val="999999"/>
                </a:solidFill>
              </a:rPr>
              <a:t> rapport de la Consolidation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4. Analyse exploratoire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7" name="Google Shape;177;g3b9e9e769d4_1_69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</a:t>
            </a: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print(f"🚀 Génération du rapport : {title}...")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profile = ProfileReport(df, title=title, explorative=True, html={"style": {"full_width": True}})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profile.to_file(report_path)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print(f"✨ Sauvegardé : {report_path}")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g3b9e9e769d4_1_69"/>
          <p:cNvSpPr txBox="1"/>
          <p:nvPr/>
        </p:nvSpPr>
        <p:spPr>
          <a:xfrm>
            <a:off x="3493613" y="1186278"/>
            <a:ext cx="16152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Profiling - extrait_sirh.csv</a:t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b9e9e769d4_1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2723" y="1492415"/>
            <a:ext cx="1676833" cy="1186242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g3b9e9e769d4_1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245" y="1492415"/>
            <a:ext cx="1707566" cy="115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b9e9e769d4_1_69"/>
          <p:cNvSpPr txBox="1"/>
          <p:nvPr/>
        </p:nvSpPr>
        <p:spPr>
          <a:xfrm>
            <a:off x="5304502" y="1186278"/>
            <a:ext cx="16152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Profiling - extrait_eval.csv</a:t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2" name="Google Shape;182;g3b9e9e769d4_1_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4123" y="1492415"/>
            <a:ext cx="1778733" cy="120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b9e9e769d4_1_69"/>
          <p:cNvSpPr txBox="1"/>
          <p:nvPr/>
        </p:nvSpPr>
        <p:spPr>
          <a:xfrm>
            <a:off x="7084481" y="1186278"/>
            <a:ext cx="1917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Profiling - extrait_sondage.csv</a:t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b9e9e769d4_1_69"/>
          <p:cNvSpPr txBox="1"/>
          <p:nvPr/>
        </p:nvSpPr>
        <p:spPr>
          <a:xfrm>
            <a:off x="4822425" y="525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Générer</a:t>
            </a: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 des rapports (ydata profiling)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9e9e769d4_0_0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g3b9e9e769d4_0_0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g3b9e9e769d4_0_0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Analyse Exploratoire</a:t>
            </a:r>
            <a:endParaRPr b="1"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192" name="Google Shape;192;g3b9e9e769d4_0_0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b9e9e769d4_0_0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ÉTAPE 1 : Nettoyage et exploration des données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1. Compréhension des données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(Verification &amp; Audit)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Générer des rapports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3. Fusion des fichiers  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    (Consolidation avec Merge)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Générer rapport de la Consolidation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4. Analyse exploratoire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600">
              <a:solidFill>
                <a:schemeClr val="lt1"/>
              </a:solidFill>
            </a:endParaRPr>
          </a:p>
        </p:txBody>
      </p:sp>
      <p:sp>
        <p:nvSpPr>
          <p:cNvPr id="194" name="Google Shape;194;g3b9e9e769d4_0_0"/>
          <p:cNvSpPr txBox="1"/>
          <p:nvPr/>
        </p:nvSpPr>
        <p:spPr>
          <a:xfrm>
            <a:off x="3658675" y="3855475"/>
            <a:ext cx="1410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    1470.000000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mean     1024.865306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       602.024335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        1.000000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25%       491.250000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50%      1020.500000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75%      1555.750000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      2068.000000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Name: id_employee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5" name="Google Shape;195;g3b9e9e769d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1450" y="356100"/>
            <a:ext cx="5539800" cy="238849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b9e9e769d4_0_0"/>
          <p:cNvSpPr txBox="1"/>
          <p:nvPr/>
        </p:nvSpPr>
        <p:spPr>
          <a:xfrm>
            <a:off x="5288400" y="3855475"/>
            <a:ext cx="1410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    1470.000000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mean     1024.865306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       602.024335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        1.000000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25%       491.250000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50%      1020.500000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75%      1555.750000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      2068.000000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Name: code_sondage </a:t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g3b9e9e769d4_0_0"/>
          <p:cNvSpPr txBox="1"/>
          <p:nvPr/>
        </p:nvSpPr>
        <p:spPr>
          <a:xfrm>
            <a:off x="7086150" y="3855475"/>
            <a:ext cx="1410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  1470.000000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mean   1024.865306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     602.024335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      1.000000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25%     491.250000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50%    1020.500000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75%    1555.750000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    2068.000000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Name: eval_numeric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g3b9e9e769d4_0_0"/>
          <p:cNvSpPr txBox="1"/>
          <p:nvPr/>
        </p:nvSpPr>
        <p:spPr>
          <a:xfrm>
            <a:off x="3532700" y="2828625"/>
            <a:ext cx="54573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Données perdues lors de la fusion en df_temp : 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Données perdues lors de la fusion en df_merged : 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✅ Fusion terminée. Dimensions finales : (1470, 35)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9e9e769d4_1_90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g3b9e9e769d4_1_90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g3b9e9e769d4_1_90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Analyse Exploratoire</a:t>
            </a:r>
            <a:endParaRPr b="1"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06" name="Google Shape;206;g3b9e9e769d4_1_90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b9e9e769d4_1_90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ÉTAPE 1 : Nettoyage et exploration des données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1. Compréhension des données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(Verification &amp; Audit)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</a:t>
            </a:r>
            <a:r>
              <a:rPr b="1" lang="fr" sz="800">
                <a:solidFill>
                  <a:srgbClr val="999999"/>
                </a:solidFill>
              </a:rPr>
              <a:t>Générer</a:t>
            </a:r>
            <a:r>
              <a:rPr b="1" lang="fr" sz="800">
                <a:solidFill>
                  <a:srgbClr val="999999"/>
                </a:solidFill>
              </a:rPr>
              <a:t> des rapports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3. Fusion des fichiers 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(Consolidation avec Merge)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2. </a:t>
            </a:r>
            <a:r>
              <a:rPr b="1" lang="fr" sz="800">
                <a:solidFill>
                  <a:srgbClr val="FFFFFF"/>
                </a:solidFill>
              </a:rPr>
              <a:t>Générer</a:t>
            </a:r>
            <a:r>
              <a:rPr b="1" lang="fr" sz="800">
                <a:solidFill>
                  <a:srgbClr val="FFFFFF"/>
                </a:solidFill>
              </a:rPr>
              <a:t> rapport de la Consolidation 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    (ydata profiling)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4. Analyse exploratoire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08" name="Google Shape;208;g3b9e9e769d4_1_90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print(f"🚀 Génération du rapport : {title}...")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profile = ProfileReport(df, title=title, explorative=True, html={"style": {"full_width": True}})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profile.to_file(report_path)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print(f"✨ Sauvegardé : {report_path}")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g3b9e9e769d4_1_90"/>
          <p:cNvSpPr txBox="1"/>
          <p:nvPr/>
        </p:nvSpPr>
        <p:spPr>
          <a:xfrm>
            <a:off x="4278650" y="420000"/>
            <a:ext cx="3826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Profiling - </a:t>
            </a: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Analyse Globale TechNova - Dataset Fusionné</a:t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b9e9e769d4_1_90"/>
          <p:cNvSpPr txBox="1"/>
          <p:nvPr/>
        </p:nvSpPr>
        <p:spPr>
          <a:xfrm>
            <a:off x="4044500" y="160950"/>
            <a:ext cx="437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Générer rapport de la Consolidation </a:t>
            </a: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 (ydata profiling)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Google Shape;211;g3b9e9e769d4_1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575" y="702050"/>
            <a:ext cx="3826441" cy="298729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9e9e769d4_1_10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g3b9e9e769d4_1_10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g3b9e9e769d4_1_10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Analyse Exploratoire</a:t>
            </a:r>
            <a:endParaRPr b="1"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19" name="Google Shape;219;g3b9e9e769d4_1_10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b9e9e769d4_1_10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ÉTAPE 1 : Nettoyage et exploration des données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1. Compréhension des données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(Verification &amp; Audit)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Générer des rapports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3. Fusion des fichiers 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(Consolidation avec Merge)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Générer rapport de la Consolidation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4. Analyse exploratoire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600">
              <a:solidFill>
                <a:schemeClr val="lt1"/>
              </a:solidFill>
            </a:endParaRPr>
          </a:p>
        </p:txBody>
      </p:sp>
      <p:sp>
        <p:nvSpPr>
          <p:cNvPr id="221" name="Google Shape;221;g3b9e9e769d4_1_10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Exemple : Distribution du revenu mensuel par statut d'attrition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plt.figure(figsize=(10, 6))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sns.kdeplot(data=df_merged, x='revenu_mensuel', hue='a_quitte_l_entreprise', fill=True)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plt.title('Distribution des revenus : Restants vs Démissionnaires')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2" name="Google Shape;222;g3b9e9e769d4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901" y="283188"/>
            <a:ext cx="5323024" cy="32466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9e9e769d4_1_34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</p:txBody>
      </p:sp>
      <p:sp>
        <p:nvSpPr>
          <p:cNvPr id="228" name="Google Shape;228;g3b9e9e769d4_1_34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g3b9e9e769d4_1_34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Analyse Exploratoire</a:t>
            </a:r>
            <a:endParaRPr b="1"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30" name="Google Shape;230;g3b9e9e769d4_1_34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b9e9e769d4_1_34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ÉTAPE 1 : Nettoyage et exploration des données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1. Compréhension des données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(Verification &amp; Audit)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Générer des rapports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3. Fusion des fichiers 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(Consolidation avec Merge)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2. Générer rapport de la Consolidation 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9999"/>
                </a:solidFill>
              </a:rPr>
              <a:t>    (ydata profiling)</a:t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4. Analyse exploratoire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600">
              <a:solidFill>
                <a:schemeClr val="lt1"/>
              </a:solidFill>
            </a:endParaRPr>
          </a:p>
        </p:txBody>
      </p:sp>
      <p:sp>
        <p:nvSpPr>
          <p:cNvPr id="232" name="Google Shape;232;g3b9e9e769d4_1_34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plt.figure(figsize=(10, 6))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sns.boxplot(data=df_merged, x='a_quitte_l_entreprise', y='revenu_mensuel')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plt.title('Comparaison des revenus mensuels : Restants vs Démissionnaires')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plt.xlabel('A quitté l\'entreprise ?')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plt.ylabel('Revenu Mensuel (€)')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3" name="Google Shape;233;g3b9e9e769d4_1_34"/>
          <p:cNvSpPr txBox="1"/>
          <p:nvPr/>
        </p:nvSpPr>
        <p:spPr>
          <a:xfrm>
            <a:off x="4696025" y="1400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fr" sz="1300">
                <a:highlight>
                  <a:srgbClr val="FFFFFF"/>
                </a:highlight>
              </a:rPr>
              <a:t>Visualisations Comparatives </a:t>
            </a:r>
            <a:endParaRPr b="1" sz="1300">
              <a:highlight>
                <a:srgbClr val="FFFFFF"/>
              </a:highlight>
            </a:endParaRPr>
          </a:p>
        </p:txBody>
      </p:sp>
      <p:pic>
        <p:nvPicPr>
          <p:cNvPr id="234" name="Google Shape;234;g3b9e9e769d4_1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2650" y="1251044"/>
            <a:ext cx="2031398" cy="1273099"/>
          </a:xfrm>
          <a:prstGeom prst="rect">
            <a:avLst/>
          </a:prstGeom>
          <a:solidFill>
            <a:srgbClr val="FFFFFF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5" name="Google Shape;235;g3b9e9e769d4_1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0390" y="1230166"/>
            <a:ext cx="1694731" cy="1319109"/>
          </a:xfrm>
          <a:prstGeom prst="rect">
            <a:avLst/>
          </a:prstGeom>
          <a:solidFill>
            <a:srgbClr val="FFFFFF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g3b9e9e769d4_1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1464" y="1232286"/>
            <a:ext cx="1694730" cy="1314864"/>
          </a:xfrm>
          <a:prstGeom prst="rect">
            <a:avLst/>
          </a:prstGeom>
          <a:solidFill>
            <a:srgbClr val="FFFFFF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g3b9e9e769d4_1_34"/>
          <p:cNvSpPr txBox="1"/>
          <p:nvPr/>
        </p:nvSpPr>
        <p:spPr>
          <a:xfrm>
            <a:off x="3462652" y="907250"/>
            <a:ext cx="18234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100" lIns="68100" spcFirstLastPara="1" rIns="68100" wrap="square" tIns="6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facteur financier 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(Revenu mensuel)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g3b9e9e769d4_1_34"/>
          <p:cNvSpPr txBox="1"/>
          <p:nvPr/>
        </p:nvSpPr>
        <p:spPr>
          <a:xfrm>
            <a:off x="5494050" y="886375"/>
            <a:ext cx="16947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100" lIns="68100" spcFirstLastPara="1" rIns="68100" wrap="square" tIns="6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L'équilibre Vie Pro / Vie Perso 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(Satisfaction)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g3b9e9e769d4_1_34"/>
          <p:cNvSpPr txBox="1"/>
          <p:nvPr/>
        </p:nvSpPr>
        <p:spPr>
          <a:xfrm>
            <a:off x="7261475" y="907250"/>
            <a:ext cx="16947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100" lIns="68100" spcFirstLastPara="1" rIns="68100" wrap="square" tIns="6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L'impact des longues </a:t>
            </a: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journées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(Heures Supplémentaires)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g3b9e9e769d4_1_34"/>
          <p:cNvSpPr txBox="1"/>
          <p:nvPr/>
        </p:nvSpPr>
        <p:spPr>
          <a:xfrm>
            <a:off x="3524052" y="2642000"/>
            <a:ext cx="1823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100" lIns="68100" spcFirstLastPara="1" rIns="68100" wrap="square" tIns="6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salaire est-il le facteur principal ?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g3b9e9e769d4_1_34"/>
          <p:cNvSpPr txBox="1"/>
          <p:nvPr/>
        </p:nvSpPr>
        <p:spPr>
          <a:xfrm>
            <a:off x="5347450" y="2853325"/>
            <a:ext cx="21375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100" lIns="68100" spcFirstLastPara="1" rIns="68100" wrap="square" tIns="6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culture d'entreprise est-elle en cause ?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g3b9e9e769d4_1_34"/>
          <p:cNvSpPr txBox="1"/>
          <p:nvPr/>
        </p:nvSpPr>
        <p:spPr>
          <a:xfrm>
            <a:off x="6684300" y="3326500"/>
            <a:ext cx="22719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100" lIns="68100" spcFirstLastPara="1" rIns="68100" wrap="square" tIns="6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 heures </a:t>
            </a: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supplémentaires</a:t>
            </a: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afecten le </a:t>
            </a: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départ</a:t>
            </a:r>
            <a:r>
              <a:rPr b="1" lang="fr" sz="67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b="1" sz="67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5321c3273_0_882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Feature Engineering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48" name="Google Shape;248;g3b5321c3273_0_882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b5321c3273_0_882"/>
          <p:cNvSpPr txBox="1"/>
          <p:nvPr>
            <p:ph type="title"/>
          </p:nvPr>
        </p:nvSpPr>
        <p:spPr>
          <a:xfrm>
            <a:off x="566500" y="356100"/>
            <a:ext cx="28596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ÉTAPE 2 : Préparation des features pour la modélisation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1. Nettoyage Initial et Élimination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2. Codification Catégorielle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3. Codification </a:t>
            </a:r>
            <a:r>
              <a:rPr b="1" lang="fr" sz="1000">
                <a:solidFill>
                  <a:srgbClr val="999999"/>
                </a:solidFill>
              </a:rPr>
              <a:t>Numérique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4. SPLIT X Y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5. PIPELINE pour Feature Engineering Initial 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6. Enregistrer Union de Features et Target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50" name="Google Shape;250;g3b5321c3273_0_882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g3b5321c3273_0_882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D2E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2" name="Google Shape;252;g3b5321c3273_0_8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4649" y="119750"/>
            <a:ext cx="2082771" cy="12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b5321c3273_0_882"/>
          <p:cNvSpPr txBox="1"/>
          <p:nvPr/>
        </p:nvSpPr>
        <p:spPr>
          <a:xfrm>
            <a:off x="3462650" y="1333113"/>
            <a:ext cx="563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• Conversion de Percents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Identification</a:t>
            </a: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 des Identifiants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Identification</a:t>
            </a: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 des Constants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Montserrat"/>
                <a:ea typeface="Montserrat"/>
                <a:cs typeface="Montserrat"/>
                <a:sym typeface="Montserrat"/>
              </a:rPr>
              <a:t>• Identification des Manquants Excessifs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🗑️ Suppression du Target Original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latin typeface="Montserrat"/>
                <a:ea typeface="Montserrat"/>
                <a:cs typeface="Montserrat"/>
                <a:sym typeface="Montserrat"/>
              </a:rPr>
              <a:t>     </a:t>
            </a:r>
            <a:r>
              <a:rPr b="1" lang="fr" sz="8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cleaner.df = cleaner.df.drop(columns=["</a:t>
            </a:r>
            <a:r>
              <a:rPr b="1" lang="fr" sz="800">
                <a:solidFill>
                  <a:srgbClr val="DD7E6B"/>
                </a:solidFill>
                <a:latin typeface="Montserrat"/>
                <a:ea typeface="Montserrat"/>
                <a:cs typeface="Montserrat"/>
                <a:sym typeface="Montserrat"/>
              </a:rPr>
              <a:t>a_quitte_l_entreprise</a:t>
            </a:r>
            <a:r>
              <a:rPr b="1" lang="fr" sz="8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"])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g3b5321c3273_0_882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✅ AUCUNE DONNÉE MANQUANTE DÉTECTÉE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 dataset est complet. Le heatmap n'est pas nécessaire.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5" name="Google Shape;255;g3b5321c3273_0_8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450" y="2564896"/>
            <a:ext cx="5632200" cy="1102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9e9e769d4_1_114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Feature Engineering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61" name="Google Shape;261;g3b9e9e769d4_1_114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b9e9e769d4_1_114"/>
          <p:cNvSpPr txBox="1"/>
          <p:nvPr>
            <p:ph type="title"/>
          </p:nvPr>
        </p:nvSpPr>
        <p:spPr>
          <a:xfrm>
            <a:off x="566500" y="356100"/>
            <a:ext cx="28596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ÉTAPE 2 : Préparation des features pour la modélisation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1. Nettoyage Initial et Élimination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2. Codification Catégorielle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3. Codification </a:t>
            </a:r>
            <a:r>
              <a:rPr b="1" lang="fr" sz="1000">
                <a:solidFill>
                  <a:srgbClr val="999999"/>
                </a:solidFill>
              </a:rPr>
              <a:t>Numérique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4. SPLIT X Y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5. PIPELINE pour Feature Engineering Initial 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6. Enregistrer Union de Features et Target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63" name="Google Shape;263;g3b9e9e769d4_1_114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4" name="Google Shape;264;g3b9e9e769d4_1_114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D2E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g3b9e9e769d4_1_114"/>
          <p:cNvSpPr txBox="1"/>
          <p:nvPr/>
        </p:nvSpPr>
        <p:spPr>
          <a:xfrm>
            <a:off x="3462650" y="419988"/>
            <a:ext cx="56322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Identification des </a:t>
            </a: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Catégorielles</a:t>
            </a: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 Redondants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🗑️ Suppression des Colonnes Redondants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CC4125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b="1" lang="fr" sz="8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COLS_REDONDANTS.append('</a:t>
            </a:r>
            <a:r>
              <a:rPr b="1" lang="fr" sz="800">
                <a:solidFill>
                  <a:srgbClr val="DD7E6B"/>
                </a:solidFill>
                <a:latin typeface="Montserrat"/>
                <a:ea typeface="Montserrat"/>
                <a:cs typeface="Montserrat"/>
                <a:sym typeface="Montserrat"/>
              </a:rPr>
              <a:t>departement</a:t>
            </a:r>
            <a:r>
              <a:rPr b="1" lang="fr" sz="8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')</a:t>
            </a:r>
            <a:endParaRPr b="1" sz="800">
              <a:solidFill>
                <a:srgbClr val="85200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b="1" lang="f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Corrélée avec: “poste”</a:t>
            </a:r>
            <a:endParaRPr b="1" sz="800">
              <a:solidFill>
                <a:srgbClr val="85200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2. Identifier Transformations </a:t>
            </a: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Catégorielles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g3b9e9e769d4_1_114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cleaner.df, meta_dict_enrichi = cleaner.supprier_colonnes_REDONDANTS(df = cleaner.df,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meta_dict      = meta_dict_enrichi, 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cols_to_remove = cleaner.COLS_REDONDANTS, 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reason="Categorical Correlation V de Cramer=0.94 avec 'poste'"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7" name="Google Shape;267;g3b9e9e769d4_1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7899" y="650925"/>
            <a:ext cx="3295426" cy="9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b9e9e769d4_1_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0175" y="420000"/>
            <a:ext cx="1998200" cy="177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b9e9e769d4_1_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8850" y="2442200"/>
            <a:ext cx="5539800" cy="7552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9e9e769d4_1_147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Feature Engineering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75" name="Google Shape;275;g3b9e9e769d4_1_147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b9e9e769d4_1_147"/>
          <p:cNvSpPr txBox="1"/>
          <p:nvPr>
            <p:ph type="title"/>
          </p:nvPr>
        </p:nvSpPr>
        <p:spPr>
          <a:xfrm>
            <a:off x="566500" y="356100"/>
            <a:ext cx="28596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ÉTAPE 2 : Préparation des features pour la modélisation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1. Nettoyage Initial et Élimination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2. Codification Catégorielle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3. Codification </a:t>
            </a:r>
            <a:r>
              <a:rPr b="1" lang="fr" sz="1000">
                <a:solidFill>
                  <a:srgbClr val="FFFFFF"/>
                </a:solidFill>
              </a:rPr>
              <a:t>Numérique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4. SPLIT X Y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5. PIPELINE pour Feature Engineering Initial 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6. Enregistrer Union de Features et Target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77" name="Google Shape;277;g3b9e9e769d4_1_147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g3b9e9e769d4_1_147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D2E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g3b9e9e769d4_1_147"/>
          <p:cNvSpPr txBox="1"/>
          <p:nvPr/>
        </p:nvSpPr>
        <p:spPr>
          <a:xfrm>
            <a:off x="3462650" y="90488"/>
            <a:ext cx="5632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1. Identification des </a:t>
            </a: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Numériques</a:t>
            </a: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 Redondants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🗑️ Suppression des Colonnes Redondants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CC4125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b="1" lang="fr" sz="8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COLS_REDONDANTS.append('</a:t>
            </a:r>
            <a:r>
              <a:rPr b="1" lang="fr" sz="800">
                <a:solidFill>
                  <a:srgbClr val="DD7E6B"/>
                </a:solidFill>
                <a:latin typeface="Montserrat"/>
                <a:ea typeface="Montserrat"/>
                <a:cs typeface="Montserrat"/>
                <a:sym typeface="Montserrat"/>
              </a:rPr>
              <a:t>niveau_hierarchique_poste</a:t>
            </a:r>
            <a:r>
              <a:rPr b="1" lang="fr" sz="8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')</a:t>
            </a:r>
            <a:endParaRPr b="1" sz="800">
              <a:solidFill>
                <a:srgbClr val="85200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b="1" lang="f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Corrélée</a:t>
            </a:r>
            <a:r>
              <a:rPr b="1" lang="f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avec: “</a:t>
            </a:r>
            <a:r>
              <a:rPr b="1" lang="f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revenu_mensuel</a:t>
            </a:r>
            <a:r>
              <a:rPr b="1" lang="f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2. Identifier Transformations </a:t>
            </a:r>
            <a:r>
              <a:rPr b="1" lang="fr" sz="800">
                <a:latin typeface="Montserrat"/>
                <a:ea typeface="Montserrat"/>
                <a:cs typeface="Montserrat"/>
                <a:sym typeface="Montserrat"/>
              </a:rPr>
              <a:t>Numériques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g3b9e9e769d4_1_147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cleaner.df, meta_dict_enrichi = cleaner.supprier_colonnes_REDONDANTS(df = cleaner.df,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meta_dict      = meta_dict_enrichi, 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cols_to_remove = cleaner.COLS_REDONDANTS, 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reason="Categorical Correlation V de Cramer=0.94 avec 'poste'"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1" name="Google Shape;281;g3b9e9e769d4_1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7100" y="161025"/>
            <a:ext cx="2125350" cy="199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b9e9e769d4_1_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7900" y="356099"/>
            <a:ext cx="3388751" cy="4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b9e9e769d4_1_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5925" y="1560425"/>
            <a:ext cx="3625213" cy="21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9e9e769d4_1_169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Feature Engineering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89" name="Google Shape;289;g3b9e9e769d4_1_169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b9e9e769d4_1_169"/>
          <p:cNvSpPr txBox="1"/>
          <p:nvPr>
            <p:ph type="title"/>
          </p:nvPr>
        </p:nvSpPr>
        <p:spPr>
          <a:xfrm>
            <a:off x="566500" y="356100"/>
            <a:ext cx="28596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ÉTAPE 2 : Préparation des features pour la modélisation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1. Nettoyage Initial et Élimination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2. Codification Catégorielle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3. Codification </a:t>
            </a:r>
            <a:r>
              <a:rPr b="1" lang="fr" sz="1000">
                <a:solidFill>
                  <a:srgbClr val="999999"/>
                </a:solidFill>
              </a:rPr>
              <a:t>Numérique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4. SPLIT X Y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5. PIPELINE pour Feature Engineering Initial 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6. Enregistrer Union de Features et Target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91" name="Google Shape;291;g3b9e9e769d4_1_169"/>
          <p:cNvSpPr/>
          <p:nvPr/>
        </p:nvSpPr>
        <p:spPr>
          <a:xfrm>
            <a:off x="3392600" y="72888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" name="Google Shape;292;g3b9e9e769d4_1_169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D2E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g3b9e9e769d4_1_169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Appel de la fonction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X, y = cleaner.pipeline_preparation_initiale(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df           = cleaner.df,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target       = FEATURE_TARGET,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cols_to_drop = FEATURES_TO_REMOVE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4" name="Google Shape;294;g3b9e9e769d4_1_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7200" y="126025"/>
            <a:ext cx="2016409" cy="35633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" name="Google Shape;295;g3b9e9e769d4_1_169"/>
          <p:cNvSpPr txBox="1"/>
          <p:nvPr/>
        </p:nvSpPr>
        <p:spPr>
          <a:xfrm>
            <a:off x="3462650" y="202975"/>
            <a:ext cx="16581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t/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t/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rPr b="1" lang="fr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🔀</a:t>
            </a:r>
            <a:endParaRPr b="1" sz="1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WORKAROUND</a:t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t/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Préparer</a:t>
            </a: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un Pipeline</a:t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pour </a:t>
            </a: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réaliser</a:t>
            </a: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le</a:t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rPr b="1" lang="fr" sz="83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 b="1" sz="838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9e9e769d4_1_196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Feature Engineering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301" name="Google Shape;301;g3b9e9e769d4_1_196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b9e9e769d4_1_196"/>
          <p:cNvSpPr txBox="1"/>
          <p:nvPr>
            <p:ph type="title"/>
          </p:nvPr>
        </p:nvSpPr>
        <p:spPr>
          <a:xfrm>
            <a:off x="566500" y="356100"/>
            <a:ext cx="28596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ÉTAPE 2 : Préparation des features pour la modélisation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1. Nettoyage Initial et Élimination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2. Codification Catégorielle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3. Codification </a:t>
            </a:r>
            <a:r>
              <a:rPr b="1" lang="fr" sz="1000">
                <a:solidFill>
                  <a:srgbClr val="999999"/>
                </a:solidFill>
              </a:rPr>
              <a:t>Numérique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4. SPLIT X Y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5. PIPELINE pour Feature Engineering Initial 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6. Enregistrer Union de Features et Target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303" name="Google Shape;303;g3b9e9e769d4_1_196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g3b9e9e769d4_1_196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D2E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g3b9e9e769d4_1_196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 Pipeline applique ces calculs pour convertir les données brutes en chiffres optimisés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06" name="Google Shape;306;g3b9e9e769d4_1_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447" y="119338"/>
            <a:ext cx="4293425" cy="357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b9e9e769d4_1_196" title="Screenshot 2026-01-22 at 17.53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8257" y="4194795"/>
            <a:ext cx="5539798" cy="75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9e9e769d4_1_184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Feature Engineering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313" name="Google Shape;313;g3b9e9e769d4_1_184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b9e9e769d4_1_184"/>
          <p:cNvSpPr txBox="1"/>
          <p:nvPr>
            <p:ph type="title"/>
          </p:nvPr>
        </p:nvSpPr>
        <p:spPr>
          <a:xfrm>
            <a:off x="566500" y="356100"/>
            <a:ext cx="28596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ÉTAPE 2 : Préparation des features pour la modélisation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1. Nettoyage Initial et Élimination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2. Codification Catégorielle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3. Codification </a:t>
            </a:r>
            <a:r>
              <a:rPr b="1" lang="fr" sz="1000">
                <a:solidFill>
                  <a:srgbClr val="999999"/>
                </a:solidFill>
              </a:rPr>
              <a:t>Numérique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4. SPLIT X Y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99999"/>
                </a:solidFill>
              </a:rPr>
              <a:t>5. PIPELINE pour Feature Engineering Initial </a:t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</a:rPr>
              <a:t>6. Enregistrer Union de Features et Target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315" name="Google Shape;315;g3b9e9e769d4_1_184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g3b9e9e769d4_1_184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D2E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g3b9e9e769d4_1_184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data_output = pd.concat([X_final_df, y], axis=1)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✅ Matrice finale consolidée : 1470 lignes x 44 colonnes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output_path = PREPROCESED_DIR / "data_final.csv"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data_output.to_csv(output_path, index=False)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8" name="Google Shape;318;g3b9e9e769d4_1_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011" y="107075"/>
            <a:ext cx="4129076" cy="359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5321c3273_0_897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</a:t>
            </a:r>
            <a:r>
              <a:rPr b="1" lang="fr" sz="1600"/>
              <a:t> </a:t>
            </a:r>
            <a:r>
              <a:rPr b="1" lang="fr" sz="1600"/>
              <a:t>V1 </a:t>
            </a:r>
            <a:r>
              <a:rPr b="1" lang="fr" sz="1600"/>
              <a:t>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324" name="Google Shape;324;g3b5321c3273_0_897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b5321c3273_0_897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3 : Modélisation initiale (baseline)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1. Split stratifié (prepare_train_test_split) 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2. Initialisation du ClassificationModeler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3. Entraînements Individuels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4. Evaluation Individuels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5. Etude Comparatif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26" name="Google Shape;326;g3b5321c3273_0_897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g3b5321c3273_0_897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C9D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g3b5321c3273_0_897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BILAN DU PARTITIONNEMENT (TRAIN/TEST SPLIT)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Taille totale dataset.: 1470  lignes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Ensemble Train........: 1176 lignes (80.0%)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Ensemble Test.........: 294  lignes (20.0%)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Variables prédictives.: 43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Status................: ✅ Segmentation effectuée avec succès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9" name="Google Shape;329;g3b5321c3273_0_8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188" y="182300"/>
            <a:ext cx="3711676" cy="339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9e9e769d4_1_215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</a:t>
            </a:r>
            <a:r>
              <a:rPr b="1" lang="fr" sz="1600"/>
              <a:t>V1 </a:t>
            </a:r>
            <a:r>
              <a:rPr b="1" lang="fr" sz="1600"/>
              <a:t> 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335" name="Google Shape;335;g3b9e9e769d4_1_215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b9e9e769d4_1_215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3 : Modélisation initiale (baseline)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1. Split stratifié (prepare_train_test_split) 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2. Initialisation du ClassificationModeler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3. Entraînements Individuels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4. Evaluation Individuels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5. Etude Comparatif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37" name="Google Shape;337;g3b9e9e769d4_1_215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g3b9e9e769d4_1_215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C9D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" name="Google Shape;339;g3b9e9e769d4_1_215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Random State........: 42</a:t>
            </a:r>
            <a:endParaRPr b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CV Folds (Stratified): 5</a:t>
            </a:r>
            <a:endParaRPr b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Seuil de Décision...: 0.5</a:t>
            </a:r>
            <a:endParaRPr b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Métriques actives...: ['accuracy', 'precision', 'recall', 'f1', 'roc_auc', 'log_loss']</a:t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0" name="Google Shape;340;g3b9e9e769d4_1_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125" y="180200"/>
            <a:ext cx="3820151" cy="350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b9e9e769d4_1_215"/>
          <p:cNvSpPr txBox="1"/>
          <p:nvPr/>
        </p:nvSpPr>
        <p:spPr>
          <a:xfrm>
            <a:off x="3352654" y="167941"/>
            <a:ext cx="3178800" cy="25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🎯 CLASSIFICATION MODELER INITIALISÉ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Samples Train.......: 1176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Features Train......: 43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Samples Test........: 294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DISTRIBUTION DES CLASSES (TRAIN) :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Classe 0..........: 83.16%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Classe 1..........: 16.84%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DISTRIBUTION DES CLASSES (TEST) :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Classe 0..........: 86.73%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Classe 1..........: 13.27%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⚠️  DATASET DÉSÉQUILIBRÉ (Ratio 4.94:1)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Conseil : Utiliser class_weight='balanced' dans vos modèles</a:t>
            </a:r>
            <a:endParaRPr b="1"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9e9e769d4_1_226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V1 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347" name="Google Shape;347;g3b9e9e769d4_1_226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b9e9e769d4_1_226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3 : Modélisation initiale (baseline)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1. Split stratifié (prepare_train_test_split) 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2. Initialisation du ClassificationModeler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3. Entraînements Individuels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4. Evaluation Individuels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5. Etude Comparatif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49" name="Google Shape;349;g3b9e9e769d4_1_226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" name="Google Shape;350;g3b9e9e769d4_1_226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C9D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g3b9e9e769d4_1_226"/>
          <p:cNvSpPr txBox="1"/>
          <p:nvPr/>
        </p:nvSpPr>
        <p:spPr>
          <a:xfrm>
            <a:off x="3462650" y="3855475"/>
            <a:ext cx="2733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📊 RAPPORT DE CLASSIFICATION (Baseline_Aleatoire)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precision    recall  f1-score   support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0       0.86      0.81      0.84       255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1       0.11      0.15      0.13        39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accuracy                           0.72       294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macro avg       0.49      0.48      0.48       294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weighted avg       0.76      0.72      0.74       294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2" name="Google Shape;352;g3b9e9e769d4_1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93335"/>
            <a:ext cx="4486276" cy="302632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b9e9e769d4_1_226"/>
          <p:cNvSpPr txBox="1"/>
          <p:nvPr/>
        </p:nvSpPr>
        <p:spPr>
          <a:xfrm>
            <a:off x="6259100" y="3855475"/>
            <a:ext cx="2733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📊 RÉSUMÉ COMPARATIF DES PERFORMANCES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Métrique        |      Train |       Test |          Δ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------------------------------------------------------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ACCURACY        |     0.7092 |     0.7245 |    -0.0153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PRECISION       |     0.1505 |     0.1111 |    +0.0394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RECALL          |     0.1566 |     0.1538 |    +0.0027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F1              |     0.1535 |     0.1290 |    +0.0244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SPECIFICITE     |     0.8211 |     0.8118 |    +0.0093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ROC_AUC         |     0.5193 |     0.4296 |    +0.0897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MCC             |    -0.0220 |    -0.0301 |    +0.0081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4" name="Google Shape;354;g3b9e9e769d4_1_226"/>
          <p:cNvSpPr txBox="1"/>
          <p:nvPr/>
        </p:nvSpPr>
        <p:spPr>
          <a:xfrm>
            <a:off x="3392600" y="2153375"/>
            <a:ext cx="18684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XXGBClassifier</a:t>
            </a: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n_estimators      = 100,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learning_rate     = 0.1,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max_depth         = 6,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use_label_encoder = False,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eval_metric       = 'logloss',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random_state      = 42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" name="Google Shape;355;g3b9e9e769d4_1_226"/>
          <p:cNvSpPr txBox="1"/>
          <p:nvPr/>
        </p:nvSpPr>
        <p:spPr>
          <a:xfrm>
            <a:off x="3392600" y="2859000"/>
            <a:ext cx="17460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CatBoostCompatible</a:t>
            </a: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iterations    = 100,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learning_rate = 0.1,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depth         = 6,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verbose       = False,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random_state  = 42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6" name="Google Shape;356;g3b9e9e769d4_1_226"/>
          <p:cNvSpPr txBox="1"/>
          <p:nvPr/>
        </p:nvSpPr>
        <p:spPr>
          <a:xfrm>
            <a:off x="3392600" y="605825"/>
            <a:ext cx="14649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DummyClassifier</a:t>
            </a: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strategy='stratified'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7" name="Google Shape;357;g3b9e9e769d4_1_226"/>
          <p:cNvSpPr txBox="1"/>
          <p:nvPr/>
        </p:nvSpPr>
        <p:spPr>
          <a:xfrm>
            <a:off x="3392600" y="1073238"/>
            <a:ext cx="14649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LogisticRegression</a:t>
            </a: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max_iter=1000, 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class_weight='balanced'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8" name="Google Shape;358;g3b9e9e769d4_1_226"/>
          <p:cNvSpPr txBox="1"/>
          <p:nvPr/>
        </p:nvSpPr>
        <p:spPr>
          <a:xfrm>
            <a:off x="3392600" y="1627475"/>
            <a:ext cx="14649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RandomForestClassifier</a:t>
            </a: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n_estimators=100, 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class_weight='balanced'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9" name="Google Shape;359;g3b9e9e769d4_1_226"/>
          <p:cNvSpPr txBox="1"/>
          <p:nvPr/>
        </p:nvSpPr>
        <p:spPr>
          <a:xfrm>
            <a:off x="3392600" y="144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Entraînements Individuels 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fr" sz="9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Modèles</a:t>
            </a:r>
            <a:r>
              <a:rPr b="1" lang="fr" sz="9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avec </a:t>
            </a:r>
            <a:r>
              <a:rPr b="1" lang="fr" sz="9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Hyperparamètres</a:t>
            </a:r>
            <a:r>
              <a:rPr b="1" lang="fr" sz="9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basiques)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9e9e769d4_1_261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V1 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365" name="Google Shape;365;g3b9e9e769d4_1_261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b9e9e769d4_1_261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3 : Modélisation initiale (baseline)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1. Split stratifié (prepare_train_test_split) 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2. Initialisation du ClassificationModeler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3. Entraînements Individuels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4. Evaluation Individuels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5. Etude Comparatif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67" name="Google Shape;367;g3b9e9e769d4_1_261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" name="Google Shape;368;g3b9e9e769d4_1_261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C9D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9" name="Google Shape;369;g3b9e9e769d4_1_261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Analyse de la Capacité Prédictive (ROC &amp; PR)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Diagnostic de l'Overfitting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Matrice de Confusion (Train / Test)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Séparabilité des Classes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0" name="Google Shape;370;g3b9e9e769d4_1_2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575" y="90500"/>
            <a:ext cx="5019524" cy="357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9e9e769d4_1_282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V1 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376" name="Google Shape;376;g3b9e9e769d4_1_282"/>
          <p:cNvSpPr txBox="1"/>
          <p:nvPr/>
        </p:nvSpPr>
        <p:spPr>
          <a:xfrm>
            <a:off x="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b9e9e769d4_1_282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3 : Modélisation initiale (baseline)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1. Split stratifié (prepare_train_test_split) 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2. Initialisation du ClassificationModeler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3. Entraînements Individuels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9999"/>
                </a:solidFill>
              </a:rPr>
              <a:t>4. Evaluation Individuels</a:t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5. Etude Comparatif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78" name="Google Shape;378;g3b9e9e769d4_1_282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g3b9e9e769d4_1_282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C9D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0" name="Google Shape;380;g3b9e9e769d4_1_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26" y="3861263"/>
            <a:ext cx="3207550" cy="11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3b9e9e769d4_1_2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199" y="117825"/>
            <a:ext cx="5116699" cy="351335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b9e9e769d4_1_282"/>
          <p:cNvSpPr txBox="1"/>
          <p:nvPr/>
        </p:nvSpPr>
        <p:spPr>
          <a:xfrm>
            <a:off x="3391364" y="3780183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Superposition des Courbes ROC (En haut à gauche)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Mesurer la capacité de discrimination du modèle.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Coefficient de Corrélation de Matthews - MCC (En haut à droite)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Évaluer la qualité globale de la classification, surtout si les classes sont déséquilibrées.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Cartographie Précision / Rappel (En bas à gauche)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Visualiser l'arbitrage (Trade-off) entre la fiabilité et la quantité de détection.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Instabilité - F1_Train vs F1_Test (En bas à droite)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Détecter le Surapprentissage (Overfitting).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5321c3273_0_905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388" name="Google Shape;388;g3b5321c3273_0_905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b5321c3273_0_905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1. Définir stratégie de modélisation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 Validation croisée stratifiée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2.1 Feature Engineering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 Entraînements Individuels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3.1 Utilisation du Score F-bêta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4. Etude Comparatif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 Optimisation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5.1 Courbe Précision-Rappel et choix du seuil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5.2 Analyser feature importance (permutation)</a:t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5.3 Analyse des probabilités par type d'erreur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Les Probabilités de Prédiction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</p:txBody>
      </p:sp>
      <p:sp>
        <p:nvSpPr>
          <p:cNvPr id="390" name="Google Shape;390;g3b5321c3273_0_905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" name="Google Shape;391;g3b5321c3273_0_905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" name="Google Shape;392;g3b5321c3273_0_905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3961"/>
              <a:buFont typeface="Arial"/>
              <a:buNone/>
            </a:pPr>
            <a:r>
              <a:rPr b="1" i="0" lang="fr" sz="26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26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🔍 Distribution de la cible (attrition_binary):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attrition_binary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0    1233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1     237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Name: count, dtype: int64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📊 Distribution relative: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attrition_binary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0    0.838776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1    0.161224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Name: proportion, dtype: float64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⚠️ Ratio de déséquilibre: 5.20:1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SMOTE Counter y_train_smote: Counter({0: 1233, 1: 237})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3" name="Google Shape;393;g3b5321c3273_0_9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249" y="2425050"/>
            <a:ext cx="3175063" cy="13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b5321c3273_0_9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2800" y="90493"/>
            <a:ext cx="3723076" cy="14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b5321c3273_0_905"/>
          <p:cNvSpPr txBox="1"/>
          <p:nvPr/>
        </p:nvSpPr>
        <p:spPr>
          <a:xfrm>
            <a:off x="3392600" y="1518700"/>
            <a:ext cx="183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latin typeface="Lato"/>
                <a:ea typeface="Lato"/>
                <a:cs typeface="Lato"/>
                <a:sym typeface="Lato"/>
              </a:rPr>
              <a:t>⚖️ 1. Analyse du déséquilibre</a:t>
            </a:r>
            <a:endParaRPr b="1" sz="9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6" name="Google Shape;396;g3b5321c3273_0_9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187" y="1518700"/>
            <a:ext cx="3473319" cy="83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7" name="Google Shape;397;g3b5321c3273_0_905"/>
          <p:cNvSpPr txBox="1"/>
          <p:nvPr/>
        </p:nvSpPr>
        <p:spPr>
          <a:xfrm>
            <a:off x="3738900" y="1901500"/>
            <a:ext cx="156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latin typeface="Lato"/>
                <a:ea typeface="Lato"/>
                <a:cs typeface="Lato"/>
                <a:sym typeface="Lato"/>
              </a:rPr>
              <a:t>📊 Stratégie de modélisation recommandée</a:t>
            </a:r>
            <a:endParaRPr b="1"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" name="Google Shape;398;g3b5321c3273_0_905"/>
          <p:cNvSpPr/>
          <p:nvPr/>
        </p:nvSpPr>
        <p:spPr>
          <a:xfrm>
            <a:off x="6739200" y="2183725"/>
            <a:ext cx="1024800" cy="15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" name="Google Shape;399;g3b5321c3273_0_905"/>
          <p:cNvSpPr txBox="1"/>
          <p:nvPr/>
        </p:nvSpPr>
        <p:spPr>
          <a:xfrm>
            <a:off x="3392600" y="2428338"/>
            <a:ext cx="197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latin typeface="Lato"/>
                <a:ea typeface="Lato"/>
                <a:cs typeface="Lato"/>
                <a:sym typeface="Lato"/>
              </a:rPr>
              <a:t>📐 2. Identification des Métriques d'évaluation prioritaires</a:t>
            </a:r>
            <a:endParaRPr b="1"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9e9e769d4_1_310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405" name="Google Shape;405;g3b9e9e769d4_1_310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b9e9e769d4_1_310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1. Définir stratégie de modélisation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2. Validation croisée stratifiée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</a:t>
            </a:r>
            <a:r>
              <a:rPr b="1" lang="fr" sz="900">
                <a:solidFill>
                  <a:srgbClr val="666666"/>
                </a:solidFill>
              </a:rPr>
              <a:t>.1 Feature Engineering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</a:t>
            </a:r>
            <a:r>
              <a:rPr b="1" lang="fr" sz="900">
                <a:solidFill>
                  <a:srgbClr val="666666"/>
                </a:solidFill>
              </a:rPr>
              <a:t>. Entraînements Individuels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3.1 Utilisation du Score F-bêta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4. Etude Comparatif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 Optimisation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5.1 Courbe Précision-Rappel et choix du seuil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5.2 Analyser feature importance (permutation)</a:t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5.3 Analyse des probabilités par type d'erreur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Les Probabilités de Prédiction</a:t>
            </a:r>
            <a:endParaRPr b="1" sz="8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</p:txBody>
      </p:sp>
      <p:sp>
        <p:nvSpPr>
          <p:cNvPr id="407" name="Google Shape;407;g3b9e9e769d4_1_310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8" name="Google Shape;408;g3b9e9e769d4_1_310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g3b9e9e769d4_1_310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3961"/>
              <a:buFont typeface="Arial"/>
              <a:buNone/>
            </a:pPr>
            <a:r>
              <a:rPr b="1" i="0" lang="fr" sz="26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26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✅ UTILISATION DE train_test_split AVEC STRATIFICATION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X_train, X_test, y_train, y_test = train_test_split(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X_prep, y_prep,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test_size=0.25,           # 25% pour le test (règle standard)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fr" sz="2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stratify=y_prep,</a:t>
            </a: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# ⚠️ CRUCIAL : préserve la distribution des classes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random_state=42,          # Reproductibilité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shuffle=True              # Mélange avant split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📊 Vérification de la stratification :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Dataset complet............: {0: 0.8387755102040816, 1: 0.16122448979591836}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Train set..................: {0: 0.838475499092559,  1: 0.16152450090744103}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Test set...................: {0: 0.8396739130434783, 1: 0.16032608695652173}</a:t>
            </a:r>
            <a:endParaRPr b="1" sz="2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0" name="Google Shape;410;g3b9e9e769d4_1_3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072" y="116950"/>
            <a:ext cx="4308652" cy="357909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b9e9e769d4_1_310"/>
          <p:cNvSpPr txBox="1"/>
          <p:nvPr/>
        </p:nvSpPr>
        <p:spPr>
          <a:xfrm>
            <a:off x="3462650" y="1389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latin typeface="Montserrat"/>
                <a:ea typeface="Montserrat"/>
                <a:cs typeface="Montserrat"/>
                <a:sym typeface="Montserrat"/>
              </a:rPr>
              <a:t>Initialisation du ClassificationModeler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9e9e769d4_1_332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417" name="Google Shape;417;g3b9e9e769d4_1_332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b9e9e769d4_1_332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1. Définir stratégie de modélisation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 Validation croisée stratifiée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2.1 Feature Engineering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 Entraînements Individuels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3.1 Utilisation du Score F-bêta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4. Etude Comparatif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 Optimisation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5.1 Courbe Précision-Rappel et choix du seuil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5.2 Analyser feature importance (permutation)</a:t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5.3 Analyse des probabilités par type d'erreur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Les Probabilités de Prédiction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</p:txBody>
      </p:sp>
      <p:sp>
        <p:nvSpPr>
          <p:cNvPr id="419" name="Google Shape;419;g3b9e9e769d4_1_332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" name="Google Shape;420;g3b9e9e769d4_1_332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" name="Google Shape;421;g3b9e9e769d4_1_332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✅ Features avant (X_train)......: 43 colonnes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✅ Features avant (X_train)......: 43 colonnes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✅ Features après (X_train)......: 51 colonnes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✅ Nouvelles Features (8)......: ['fe1_ratio_stagnation', 'fe2_stabilite_manager', 'fe3_indice_job_hopping', 'fe4_anciennete_relative', 'fe5_satisfaction_globale', 'fe6_risque_overwork', 'fe7_penibilite_trajet', 'fe8_valeur_experience']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2" name="Google Shape;422;g3b9e9e769d4_1_3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175" y="114975"/>
            <a:ext cx="5317375" cy="35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9e9e769d4_1_345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428" name="Google Shape;428;g3b9e9e769d4_1_345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b9e9e769d4_1_345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1. Définir stratégie de modélisation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 Validation croisée stratifiée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2.1 Feature Engineering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3. Entraînements Individuels 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3.1 Utilisation du Score F-bêta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4. Etude Comparatif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 Optimisation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5.1 Courbe Précision-Rappel et choix du seuil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5.2 Analyser feature importance (permutation)</a:t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5.3 Analyse des probabilités par type d'erreur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Les Probabilités de Prédiction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</p:txBody>
      </p:sp>
      <p:sp>
        <p:nvSpPr>
          <p:cNvPr id="430" name="Google Shape;430;g3b9e9e769d4_1_345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g3b9e9e769d4_1_345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" name="Google Shape;432;g3b9e9e769d4_1_345"/>
          <p:cNvSpPr txBox="1"/>
          <p:nvPr/>
        </p:nvSpPr>
        <p:spPr>
          <a:xfrm>
            <a:off x="3425825" y="420000"/>
            <a:ext cx="19944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DummyClassifier</a:t>
            </a: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strategy         = 'stratified',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random_state     = 42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LogisticRegression</a:t>
            </a: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class_weight      = 'balanced',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max_iter          = 1000,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random_state      = 42,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solver            = 'liblinear'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RandomForestClassifier</a:t>
            </a: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n_estimators      = 200, 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max_depth         = 10,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min_samples_split = 20,  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min_samples_leaf  = 10,    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class_weight      = 'balanced',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random_state      = 42,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n_jobs            = -1   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GradientBoostingClassifier</a:t>
            </a: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n_estimators      = 150,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learning_rate     = 0.1,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max_depth         = 5,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min_samples_split = 20,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min_samples_leaf  = 10,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random_state      = 42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XGBClassifier</a:t>
            </a: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n_estimators      = 200,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max_depth         = 6,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learning_rate     = 0.05,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min_child_weight  = 3,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scale_pos_weight  = ratio_classes,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random_state      = 42,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use_label_encoder = False,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eval_metric       = 'logloss',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n_jobs            = -1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RandomForestClassifier</a:t>
            </a: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n_estimators      = 200,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max_depth         = 10,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random_state      = 42,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n_jobs            = -1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3" name="Google Shape;433;g3b9e9e769d4_1_345"/>
          <p:cNvSpPr txBox="1"/>
          <p:nvPr/>
        </p:nvSpPr>
        <p:spPr>
          <a:xfrm>
            <a:off x="3392600" y="90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Entraînements Individuels 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(Modèles avec </a:t>
            </a:r>
            <a:r>
              <a:rPr b="1" lang="fr" sz="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HyperParamètres</a:t>
            </a:r>
            <a:r>
              <a:rPr b="1" lang="fr" sz="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fr" sz="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modifiés</a:t>
            </a:r>
            <a:r>
              <a:rPr b="1" lang="fr" sz="9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434" name="Google Shape;434;g3b9e9e769d4_1_3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6126" y="640875"/>
            <a:ext cx="3936326" cy="26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b9e9e769d4_1_345"/>
          <p:cNvSpPr txBox="1"/>
          <p:nvPr/>
        </p:nvSpPr>
        <p:spPr>
          <a:xfrm>
            <a:off x="3462650" y="3855475"/>
            <a:ext cx="2733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📊 RAPPORT DE CLASSIFICATION (LogisticReg_Balanced)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precision    recall  f1-score   support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0       0.92      0.83      0.87       309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1       0.40      0.61      0.48        59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accuracy                           0.79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macro avg       0.66      0.72      0.68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weighted avg       0.83      0.79      0.81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6" name="Google Shape;436;g3b9e9e769d4_1_345"/>
          <p:cNvSpPr txBox="1"/>
          <p:nvPr/>
        </p:nvSpPr>
        <p:spPr>
          <a:xfrm>
            <a:off x="6259100" y="3855475"/>
            <a:ext cx="2733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📊 RÉSUMÉ COMPARATIF DES PERFORMANCES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Métrique        |      Train |       Test |          Δ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-------------------------------------------------------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ACCURACY        |     0.8022 |     0.7908 |    +0.0114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PRECISION       |     0.4408 |     0.4000 |    +0.0408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RECALL          |     0.8371 |     0.6102 |    +0.2269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F1              |     0.5775 |     0.4832 |    +0.0943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SPECIFICITE     |     0.7955 |     0.8252 |    -0.0298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ROC_AUC         |     0.8846 |     0.8028 |    +0.0818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MCC             |     0.5048 |     0.3717 |    +0.1331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b9e9e769d4_1_355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442" name="Google Shape;442;g3b9e9e769d4_1_355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b9e9e769d4_1_355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1. Définir stratégie de modélisation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 Validation croisée stratifiée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2.1 Feature Engineering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 Entraînements Individuels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3.1 Utilisation du Score F-bêta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4. Etude Comparatif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 Optimisation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5.1 Courbe Précision-Rappel et choix du seuil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5.2 Analyser feature importance (permutation)</a:t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5.3 Analyse des probabilités par type d'erreur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Les Probabilités de Prédiction</a:t>
            </a:r>
            <a:endParaRPr b="1" sz="8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</p:txBody>
      </p:sp>
      <p:sp>
        <p:nvSpPr>
          <p:cNvPr id="444" name="Google Shape;444;g3b9e9e769d4_1_355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5" name="Google Shape;445;g3b9e9e769d4_1_355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" name="Google Shape;446;g3b9e9e769d4_1_355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7" name="Google Shape;447;g3b9e9e769d4_1_3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151" y="203437"/>
            <a:ext cx="3879300" cy="1411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8" name="Google Shape;448;g3b9e9e769d4_1_355"/>
          <p:cNvSpPr txBox="1"/>
          <p:nvPr/>
        </p:nvSpPr>
        <p:spPr>
          <a:xfrm>
            <a:off x="3425825" y="33950"/>
            <a:ext cx="3000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highlight>
                  <a:srgbClr val="FFFFFF"/>
                </a:highlight>
              </a:rPr>
              <a:t>Meilleur </a:t>
            </a:r>
            <a:r>
              <a:rPr b="1" lang="fr" sz="1300">
                <a:highlight>
                  <a:srgbClr val="FFFFFF"/>
                </a:highlight>
              </a:rPr>
              <a:t>Modèle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LogisticRegression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fr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Trié</a:t>
            </a:r>
            <a:r>
              <a:rPr b="1" lang="fr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 par Rappel)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9" name="Google Shape;449;g3b9e9e769d4_1_3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858" y="1855088"/>
            <a:ext cx="3952592" cy="1834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b9e9e769d4_1_3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2637" y="805343"/>
            <a:ext cx="1372738" cy="2884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a12d0eeb1_0_11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456" name="Google Shape;456;g3ba12d0eeb1_0_11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ba12d0eeb1_0_11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1. Définir stratégie de modélisation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 Validation croisée stratifiée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2.1 Feature Engineering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 Entraînements Individuels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3.1 Utilisation du Score F-bêta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4. Etude Comparatif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5. Optimisation 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5.1 Courbe Précision-Rappel et choix du seuil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5.2 Analyser feature importance (permutation)</a:t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5.3 Analyse des probabilités par type d'erreur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Les Probabilités de Prédiction</a:t>
            </a:r>
            <a:endParaRPr b="1" sz="8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</p:txBody>
      </p:sp>
      <p:sp>
        <p:nvSpPr>
          <p:cNvPr id="458" name="Google Shape;458;g3ba12d0eeb1_0_11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9" name="Google Shape;459;g3ba12d0eeb1_0_11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g3ba12d0eeb1_0_11"/>
          <p:cNvSpPr txBox="1"/>
          <p:nvPr/>
        </p:nvSpPr>
        <p:spPr>
          <a:xfrm>
            <a:off x="3392600" y="144125"/>
            <a:ext cx="3000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11. Courbe ROC (Haut - Gauche)</a:t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Performance Globale du Modèle (AUC : 0.80)</a:t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Courbe Précision-Rappel (Haut - Droite)</a:t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Fiabilité des Alertes vs Couverture des Risques</a:t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Matrices de Confusion (Bas) (Seuils 0.50 / 0.72)</a:t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Comparaison des Stratégies Opérationnelles</a:t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1" name="Google Shape;461;g3ba12d0eeb1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070" y="119800"/>
            <a:ext cx="2701855" cy="1309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ba12d0eeb1_0_11" title="Screenshot 2026-01-22 at 23.14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8763" y="1468770"/>
            <a:ext cx="2614464" cy="1044887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ba12d0eeb1_0_11"/>
          <p:cNvSpPr txBox="1"/>
          <p:nvPr/>
        </p:nvSpPr>
        <p:spPr>
          <a:xfrm>
            <a:off x="3392600" y="3855475"/>
            <a:ext cx="2733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📊 RAPPORT DE CLASSIFICATION (LogisticReg_Balanced)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─────────────────────────────────────────────────────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precision    recall  f1-score   support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0       0.92      0.83      0.87       309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1       0.40      0.61      0.48        59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accuracy                           0.79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macro avg       0.66      0.72      0.68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weighted avg       0.83      0.79      0.81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4" name="Google Shape;464;g3ba12d0eeb1_0_11"/>
          <p:cNvSpPr txBox="1"/>
          <p:nvPr/>
        </p:nvSpPr>
        <p:spPr>
          <a:xfrm>
            <a:off x="6125900" y="3924414"/>
            <a:ext cx="29325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✨ Nouveau bilan pour LogisticReg_Balanced (Seuil 0.72)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precision    recall  f1-score   support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0       0.91      0.94      0.92       309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1       0.62      0.49      0.55        59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accuracy                           0.87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macro avg       0.76      0.72      0.74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weighted avg       0.86      0.87      0.86       368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5" name="Google Shape;465;g3ba12d0eeb1_0_11"/>
          <p:cNvSpPr txBox="1"/>
          <p:nvPr/>
        </p:nvSpPr>
        <p:spPr>
          <a:xfrm>
            <a:off x="3426100" y="1721825"/>
            <a:ext cx="2733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trouver_seuil_optimal(y_true, y_probs):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meilleur_seuil = 0.5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meilleur_f1    = 0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# On teste 100 seuils différents entre 0.1 et 0.9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seuil in np.linspace(0.1, 0.9, 100):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y_pred = (y_probs &gt;= seuil).astype(int)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score  = f1_score(y_true, y_pred)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score &gt; meilleur_f1: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meilleur_f1    = score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meilleur_seuil = seuil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meilleur_seuil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6" name="Google Shape;466;g3ba12d0eeb1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7150" y="2513650"/>
            <a:ext cx="1199775" cy="1175700"/>
          </a:xfrm>
          <a:prstGeom prst="rect">
            <a:avLst/>
          </a:prstGeom>
          <a:solidFill>
            <a:srgbClr val="FFFFFF"/>
          </a:solidFill>
          <a:ln cap="flat" cmpd="sng" w="9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7" name="Google Shape;467;g3ba12d0eeb1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9714" y="2513653"/>
            <a:ext cx="1147500" cy="1175696"/>
          </a:xfrm>
          <a:prstGeom prst="rect">
            <a:avLst/>
          </a:prstGeom>
          <a:solidFill>
            <a:srgbClr val="FFFFFF"/>
          </a:solidFill>
          <a:ln cap="flat" cmpd="sng" w="9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8" name="Google Shape;468;g3ba12d0eeb1_0_11"/>
          <p:cNvSpPr txBox="1"/>
          <p:nvPr/>
        </p:nvSpPr>
        <p:spPr>
          <a:xfrm>
            <a:off x="3732275" y="2890550"/>
            <a:ext cx="198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highlight>
                  <a:srgbClr val="FFFFFF"/>
                </a:highlight>
              </a:rPr>
              <a:t>💡</a:t>
            </a:r>
            <a:r>
              <a:rPr b="1" lang="fr" sz="1000">
                <a:solidFill>
                  <a:srgbClr val="9900FF"/>
                </a:solidFill>
                <a:highlight>
                  <a:srgbClr val="FFFFFF"/>
                </a:highlight>
              </a:rPr>
              <a:t> Seuil optimal trouvé : 0.72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g3ba12d0eeb1_0_11"/>
          <p:cNvSpPr txBox="1"/>
          <p:nvPr/>
        </p:nvSpPr>
        <p:spPr>
          <a:xfrm>
            <a:off x="3392600" y="14512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hoix du seuil a travers de une fonction: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g3ba12d0eeb1_0_11"/>
          <p:cNvSpPr/>
          <p:nvPr/>
        </p:nvSpPr>
        <p:spPr>
          <a:xfrm>
            <a:off x="8564000" y="2474900"/>
            <a:ext cx="159900" cy="1146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1" name="Google Shape;471;g3ba12d0eeb1_0_11"/>
          <p:cNvCxnSpPr>
            <a:endCxn id="470" idx="1"/>
          </p:cNvCxnSpPr>
          <p:nvPr/>
        </p:nvCxnSpPr>
        <p:spPr>
          <a:xfrm flipH="1" rot="10800000">
            <a:off x="5657000" y="3048050"/>
            <a:ext cx="2907000" cy="2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2" name="Google Shape;472;g3ba12d0eeb1_0_11"/>
          <p:cNvSpPr txBox="1"/>
          <p:nvPr/>
        </p:nvSpPr>
        <p:spPr>
          <a:xfrm>
            <a:off x="3357975" y="3110725"/>
            <a:ext cx="3068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Seuil 0.50 </a:t>
            </a:r>
            <a:r>
              <a:rPr lang="f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(Approche Préventive) : On détecte 36 départs, mais on mobilise RH pour 54 personnes qui ne seraient finalement pas parties.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Seuil 0.72 </a:t>
            </a:r>
            <a:r>
              <a:rPr lang="f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f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Approche Ciblée</a:t>
            </a:r>
            <a:r>
              <a:rPr lang="f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: On réduit les erreurs de diagnostic de 66% (de 54 à 18), rendant l'action RH beaucoup plus efficace et crédible.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a12d0eeb1_0_39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478" name="Google Shape;478;g3ba12d0eeb1_0_39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ba12d0eeb1_0_39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1. Définir stratégie de modélisation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 Validation croisée stratifiée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2.1 Feature Engineering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 Entraînements Individuels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3.1 Utilisation du Score F-bêta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4. Etude Comparatif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 Optimisation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5.1 Courbe Précision-Rappel et choix du seuil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5.2 Analyser feature importance (permutation)</a:t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5.3 Analyse des probabilités par type d'erreur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Les Probabilités de Prédiction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</p:txBody>
      </p:sp>
      <p:sp>
        <p:nvSpPr>
          <p:cNvPr id="480" name="Google Shape;480;g3ba12d0eeb1_0_39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1" name="Google Shape;481;g3ba12d0eeb1_0_39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" name="Google Shape;482;g3ba12d0eeb1_0_39"/>
          <p:cNvSpPr txBox="1"/>
          <p:nvPr/>
        </p:nvSpPr>
        <p:spPr>
          <a:xfrm>
            <a:off x="3392600" y="144125"/>
            <a:ext cx="56025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highlight>
                  <a:srgbClr val="FFFFFF"/>
                </a:highlight>
              </a:rPr>
              <a:t>Analyse de la distribution des probabilités (VP, FP, FN, VN)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g3ba12d0eeb1_0_39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top_N_features = analyser_importance_features_by_method(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X       = X_test, 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y       = y_test, 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top_n   = 10,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scoring = 'f2',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method  = 'permutation'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84" name="Google Shape;484;g3ba12d0eeb1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124" y="570175"/>
            <a:ext cx="4765226" cy="30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ba12d0eeb1_0_79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490" name="Google Shape;490;g3ba12d0eeb1_0_79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ba12d0eeb1_0_79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1. Définir stratégie de modélisation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 Validation croisée stratifiée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2.1 Feature Engineering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 Entraînements Individuels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3.1 Utilisation du Score F-bêta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4. Etude Comparatif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 Optimisation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5.1 Courbe Précision-Rappel et choix du seuil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5.2 Analyser feature importance (permutation)</a:t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5.3 Analyse des probabilités par type d'erreur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Les Probabilités de Prédiction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492" name="Google Shape;492;g3ba12d0eeb1_0_79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3" name="Google Shape;493;g3ba12d0eeb1_0_79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g3ba12d0eeb1_0_79"/>
          <p:cNvSpPr txBox="1"/>
          <p:nvPr/>
        </p:nvSpPr>
        <p:spPr>
          <a:xfrm>
            <a:off x="3392600" y="144125"/>
            <a:ext cx="56025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highlight>
                  <a:srgbClr val="FFFFFF"/>
                </a:highlight>
              </a:rPr>
              <a:t>Analyse de la distribution des probabilités (VP, FP, FN, VN)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g3ba12d0eeb1_0_79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📢 RÉSUMÉ POUR LA DIRECTION RH (ZONE CRITIQUE)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Seuil de confiance appliqué : 85.0%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--------------------------------------------------------------------------------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✅ Départs réels identifiés en test          : 59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🔥 Alertes de haute priorité générées        : 22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🎯 Départs réels capturés (Haut Risque)      : 17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📈 Taux de couverture de la zone             : 28.81%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✅ Fiabilité / Précision de l'alerte         : 77.27%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👉 Interprétation : Sur 10 alertes émises    : 8 départs effectifs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🚀 Action : 22 entretiens prioritaires à mener immédiatement.</a:t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7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6" name="Google Shape;496;g3ba12d0eeb1_0_79"/>
          <p:cNvSpPr txBox="1"/>
          <p:nvPr/>
        </p:nvSpPr>
        <p:spPr>
          <a:xfrm>
            <a:off x="4278650" y="2553325"/>
            <a:ext cx="390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Liste d'intervention pour le département RH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g3ba12d0eeb1_0_79"/>
          <p:cNvSpPr txBox="1"/>
          <p:nvPr/>
        </p:nvSpPr>
        <p:spPr>
          <a:xfrm>
            <a:off x="8169950" y="2318100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Top Feature Importance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" name="Google Shape;498;g3ba12d0eeb1_0_79"/>
          <p:cNvSpPr txBox="1"/>
          <p:nvPr/>
        </p:nvSpPr>
        <p:spPr>
          <a:xfrm>
            <a:off x="3437288" y="2236375"/>
            <a:ext cx="78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ID’s des 22 employés identifiés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9" name="Google Shape;499;g3ba12d0eeb1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788" y="2872313"/>
            <a:ext cx="5387517" cy="72517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ba12d0eeb1_0_79"/>
          <p:cNvSpPr/>
          <p:nvPr/>
        </p:nvSpPr>
        <p:spPr>
          <a:xfrm>
            <a:off x="3480675" y="3011775"/>
            <a:ext cx="199200" cy="67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" name="Google Shape;501;g3ba12d0eeb1_0_79"/>
          <p:cNvSpPr/>
          <p:nvPr/>
        </p:nvSpPr>
        <p:spPr>
          <a:xfrm>
            <a:off x="3720325" y="2964855"/>
            <a:ext cx="5315400" cy="11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2" name="Google Shape;502;g3ba12d0eeb1_0_79"/>
          <p:cNvCxnSpPr>
            <a:endCxn id="500" idx="0"/>
          </p:cNvCxnSpPr>
          <p:nvPr/>
        </p:nvCxnSpPr>
        <p:spPr>
          <a:xfrm flipH="1">
            <a:off x="3580275" y="2717175"/>
            <a:ext cx="120600" cy="29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g3ba12d0eeb1_0_79"/>
          <p:cNvCxnSpPr/>
          <p:nvPr/>
        </p:nvCxnSpPr>
        <p:spPr>
          <a:xfrm flipH="1">
            <a:off x="8357575" y="2670250"/>
            <a:ext cx="120600" cy="29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04" name="Google Shape;504;g3ba12d0eeb1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8650" y="504100"/>
            <a:ext cx="3763835" cy="20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ba12d0eeb1_0_101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Modélisation avancée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510" name="Google Shape;510;g3ba12d0eeb1_0_101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fr" sz="6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ba12d0eeb1_0_101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4 : Modélisation avancée (gestion déséquilibre + optimisation)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1. Définir stratégie de modélisation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 Validation croisée stratifiée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2.1 Feature Engineering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 Entraînements Individuels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3.1 Utilisation du Score F-bêta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4. Etude Comparatif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 Optimisation 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5.1 Courbe Précision-Rappel et choix du seuil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5.2 Analyser feature importance (permutation)</a:t>
            </a:r>
            <a:endParaRPr b="1" sz="9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66666"/>
                </a:solidFill>
              </a:rPr>
              <a:t>5.3 Analyse des probabilités par type d'erreur</a:t>
            </a:r>
            <a:endParaRPr b="1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1. Les Probabilités de Prédiction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12" name="Google Shape;512;g3ba12d0eeb1_0_101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3" name="Google Shape;513;g3ba12d0eeb1_0_101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D9EAD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" name="Google Shape;514;g3ba12d0eeb1_0_101"/>
          <p:cNvSpPr txBox="1"/>
          <p:nvPr/>
        </p:nvSpPr>
        <p:spPr>
          <a:xfrm>
            <a:off x="3392600" y="144125"/>
            <a:ext cx="56025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highlight>
                  <a:srgbClr val="FFFFFF"/>
                </a:highlight>
              </a:rPr>
              <a:t>Analyse de la distribution des probabilités (VP, FP, FN, VN)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g3ba12d0eeb1_0_101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"/>
              <a:buFont typeface="Arial"/>
              <a:buNone/>
            </a:pPr>
            <a:r>
              <a:rPr b="1" i="0" lang="fr" sz="839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839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fr" sz="83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📊 BILAN GLOBAL COHÉRENT (Seuil: 0.85)</a:t>
            </a:r>
            <a:endParaRPr b="1" sz="839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fr" sz="83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---------------------------------------------------------------------------</a:t>
            </a:r>
            <a:endParaRPr b="1" sz="839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fr" sz="83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0. ZONE CRITIQUE (Hauts Risques)...(Score: &gt; 0.85)      |  17 emp. ( 28.8%) █████</a:t>
            </a:r>
            <a:endParaRPr b="1" sz="839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fr" sz="83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 ZONE OPTIMALE (Détectés)........(Score: 0.72 - 0.85) |  12 emp. ( 20.3%) ████</a:t>
            </a:r>
            <a:endParaRPr b="1" sz="839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fr" sz="83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Hésitants (Manqués).............(Score: 0.50 - 0.72) |   7 emp. ( 11.9%) ██</a:t>
            </a:r>
            <a:endParaRPr b="1" sz="839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fr" sz="83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Signaux Faibles (Manqués).......(Score: 0.20 - 0.50) |  16 emp. ( 27.1%) █████</a:t>
            </a:r>
            <a:endParaRPr b="1" sz="839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fr" sz="83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4. Invisibles (Cygnes Noirs).......(Score: &lt; 0.20)      |   7 emp. ( 11.9%) ██</a:t>
            </a:r>
            <a:endParaRPr b="1" sz="839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fr" sz="83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---------------------------------------------------------------------------</a:t>
            </a:r>
            <a:endParaRPr b="1" i="0" sz="46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16" name="Google Shape;516;g3ba12d0eeb1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87" y="570176"/>
            <a:ext cx="5340126" cy="299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6a26b60b3_0_12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Interprétation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522" name="Google Shape;522;g3b6a26b60b3_0_12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lang="fr" sz="6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b6a26b60b3_0_12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5 : Interprétez le comportement du modèle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1. Évaluation de la Performance Décisionnelle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Analyse des courbes ROC et Précision-Rappel.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2. Interprétabilité Globale (Causes du Départ)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Hiérarchie des variables (SHAP Beeswarm Plot).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 convergence (Comparaison Permutation vs SHAP).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3. Analyse des Dépendances et Corrélations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Sens d'influence des caractéristiques clés (Scatter Plots).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Identification de comportements non-linéaires.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4. Interprétabilité Locale : Diagnostic Individuel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 cas spécifiques (Waterfall Plots).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Décomposition du risque pour des profils types (Classes 0 et 1).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24" name="Google Shape;524;g3b6a26b60b3_0_12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5" name="Google Shape;525;g3b6a26b60b3_0_12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FCE5C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" name="Google Shape;526;g3b6a26b60b3_0_12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7" name="Google Shape;527;g3b6a26b60b3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375" y="900275"/>
            <a:ext cx="5576349" cy="178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a12d0eeb1_0_146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Interprétation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533" name="Google Shape;533;g3ba12d0eeb1_0_146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lang="fr" sz="6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ba12d0eeb1_0_146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5 : Interprétez le comportement du modèle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Évaluation de la Performance Décisionnelle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des courbes ROC et Précision-Rappel.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2. Interprétabilité Globale (Causes du Départ)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Hiérarchie des variables (SHAP Beeswarm Plot).</a:t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 convergence (Comparaison Permutation vs SHAP).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3. Analyse des Dépendances et Corrélations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Sens d'influence des caractéristiques clés (Scatter Plots).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Identification de comportements non-linéaires.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4. Interprétabilité Locale : Diagnostic Individuel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 cas spécifiques (Waterfall Plots).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Décomposition du risque pour des profils types (Classes 0 et 1).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35" name="Google Shape;535;g3ba12d0eeb1_0_146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" name="Google Shape;536;g3ba12d0eeb1_0_146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FCE5C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7" name="Google Shape;537;g3ba12d0eeb1_0_146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1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🏆 TOP 5 SHAP - IMPORTANCE GLOBALE MOYENNE</a:t>
            </a:r>
            <a:endParaRPr b="1" sz="101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1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</a:t>
            </a:r>
            <a:endParaRPr b="1" sz="101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1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n_std__heure_supplementaires             | 0.6367</a:t>
            </a:r>
            <a:endParaRPr b="1" sz="101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1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n_log__annee_experience_totale           | 0.5932</a:t>
            </a:r>
            <a:endParaRPr b="1" sz="101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1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fe5_satisfaction_globale                 | 0.4134</a:t>
            </a:r>
            <a:endParaRPr b="1" sz="101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1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n_std__nombre_experiences_precedentes    | 0.3904</a:t>
            </a:r>
            <a:endParaRPr b="1" sz="101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1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n_std__note_evaluation_precedente        | 0.2768</a:t>
            </a:r>
            <a:endParaRPr b="1" sz="101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38" name="Google Shape;538;g3ba12d0eeb1_0_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700" y="854830"/>
            <a:ext cx="4872649" cy="224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ba12d0eeb1_0_146"/>
          <p:cNvSpPr txBox="1"/>
          <p:nvPr/>
        </p:nvSpPr>
        <p:spPr>
          <a:xfrm>
            <a:off x="3392600" y="144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Interprétabilité Globale 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 Beeswarm Plot</a:t>
            </a:r>
            <a:endParaRPr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a12d0eeb1_0_159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Interprétation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545" name="Google Shape;545;g3ba12d0eeb1_0_159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lang="fr" sz="6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ba12d0eeb1_0_159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5 : Interprétez le comportement du modèle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Évaluation de la Performance Décisionnelle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des courbes ROC et Précision-Rappel.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2. Interprétabilité Globale (Causes du Départ)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Hiérarchie des variables (SHAP Beeswarm Plot).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Analyse de convergence (Comparaison Permutation vs SHAP).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3. Analyse des Dépendances et Corrélations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Sens d'influence des caractéristiques clés (Scatter Plots).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Identification de comportements non-linéaires.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4. Interprétabilité Locale : Diagnostic Individuel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 cas spécifiques (Waterfall Plots).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Décomposition du risque pour des profils types (Classes 0 et 1).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47" name="Google Shape;547;g3ba12d0eeb1_0_159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8" name="Google Shape;548;g3ba12d0eeb1_0_159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FCE5C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49" name="Google Shape;549;g3ba12d0eeb1_0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0625" y="114802"/>
            <a:ext cx="3227650" cy="14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ba12d0eeb1_0_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9251" y="1685425"/>
            <a:ext cx="3110400" cy="201277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g3ba12d0eeb1_0_159"/>
          <p:cNvSpPr txBox="1"/>
          <p:nvPr/>
        </p:nvSpPr>
        <p:spPr>
          <a:xfrm>
            <a:off x="3392600" y="144125"/>
            <a:ext cx="25335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Analyse de Convergence : Permutation vs SHAP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Les Piliers du Modèle (Top 1 &amp; 2)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Heures Supplémentaires</a:t>
            </a:r>
            <a:r>
              <a:rPr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Convergence totale en 1ère position. Plus l'employé en fait (points rouges), plus le risque de départ explose (SHAP &gt; 0).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Années d'Expérience</a:t>
            </a: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r>
              <a:rPr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2ème facteur clé. L'impact est inverse : la séniorité agit comme un "bouclier" de rétention (points rouges à gauche).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Facteurs de Risque Métier et Profil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Poste (</a:t>
            </a:r>
            <a:r>
              <a:rPr b="1" lang="fr" sz="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Commercial</a:t>
            </a: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&amp; Statut (</a:t>
            </a:r>
            <a:r>
              <a:rPr b="1" lang="fr" sz="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Divorcé</a:t>
            </a: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: </a:t>
            </a:r>
            <a:r>
              <a:rPr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Présents dans le Top 5 des deux méthodes. Ces catégories augmentent mécaniquement la probabilité de départ.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Distance Domicile-Travail</a:t>
            </a: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r>
              <a:rPr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Confirmée comme un facteur de tension ; l'éloignement pousse les points SHAP vers la zone de risque.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Le Levier de la Satisfaction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Environnement</a:t>
            </a: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b="1" lang="fr" sz="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Nature du Travail</a:t>
            </a:r>
            <a:r>
              <a:rPr b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r>
              <a:rPr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Bien que d'importance modérée (bas du Top 10), leur influence est claire : une faible satisfaction (bleu) est un moteur constant de démission.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g3ba12d0eeb1_0_159"/>
          <p:cNvSpPr txBox="1"/>
          <p:nvPr/>
        </p:nvSpPr>
        <p:spPr>
          <a:xfrm>
            <a:off x="3392600" y="3855475"/>
            <a:ext cx="2733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🏆 TOP 5 SHAP - IMPORTANCE GLOBALE MOYENNE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n_std__heure_supplementaires             | 0.6367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n_log__annee_experience_totale           | 0.5932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fe5_satisfaction_globale                 | 0.4134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n_std__nombre_experiences_precedentes    | 0.3904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n_std__note_evaluation_precedente        | 0.2768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3" name="Google Shape;553;g3ba12d0eeb1_0_159"/>
          <p:cNvSpPr txBox="1"/>
          <p:nvPr/>
        </p:nvSpPr>
        <p:spPr>
          <a:xfrm>
            <a:off x="6125900" y="3884514"/>
            <a:ext cx="29325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────────────────────────────────────────────────────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🏆 TOP 5 DES VARIABLES DÉTERMINANTES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----------------------------------------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 heure_supplementaires (0.1718)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annee_experience_totale (0.0614)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nombre_experiences_precedentes (0.0258)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4. poste_Représentant Commercial (0.0224)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5. statut_marital_Divorcé(e) (0.0218)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a12d0eeb1_0_177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Interprétation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559" name="Google Shape;559;g3ba12d0eeb1_0_177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lang="fr" sz="6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ba12d0eeb1_0_177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5 : Interprétez le comportement du modèle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Évaluation de la Performance Décisionnelle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des courbes ROC et Précision-Rappel.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2. Interprétabilité Globale (Causes du Départ)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Hiérarchie des variables (SHAP Beeswarm Plot).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 convergence (Comparaison Permutation vs SHAP).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3. Analyse des Dépendances et Corrélations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Sens d'influence des caractéristiques clés (Scatter Plots).</a:t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Identification de comportements non-linéaires.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4. Interprétabilité Locale : Diagnostic Individuel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 cas spécifiques (Waterfall Plots).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Décomposition du risque pour des profils types (Classes 0 et 1).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61" name="Google Shape;561;g3ba12d0eeb1_0_177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" name="Google Shape;562;g3ba12d0eeb1_0_177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FCE5C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3" name="Google Shape;563;g3ba12d0eeb1_0_177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FCE5C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" name="Google Shape;564;g3ba12d0eeb1_0_177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Beeswarm plot : Importance GLOBALE et distribution des impacts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C'est le graphique le plus puissant : il montre l'impact des variables sur l'ensemble du dataset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print("Importance Globale et Distribution (Beeswarm) :")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shap.plots.beeswarm</a:t>
            </a:r>
            <a:r>
              <a:rPr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(shap_values_train)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5" name="Google Shape;565;g3ba12d0eeb1_0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2650" y="780880"/>
            <a:ext cx="4872649" cy="224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ba12d0eeb1_0_177"/>
          <p:cNvSpPr txBox="1"/>
          <p:nvPr/>
        </p:nvSpPr>
        <p:spPr>
          <a:xfrm>
            <a:off x="3774725" y="2922400"/>
            <a:ext cx="2104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Constance du Comportement (Fiabilité)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Couleurs séparées ou mélangées?</a:t>
            </a:r>
            <a:endParaRPr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" name="Google Shape;567;g3ba12d0eeb1_0_177"/>
          <p:cNvSpPr/>
          <p:nvPr/>
        </p:nvSpPr>
        <p:spPr>
          <a:xfrm>
            <a:off x="6516750" y="1815700"/>
            <a:ext cx="627000" cy="16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68" name="Google Shape;568;g3ba12d0eeb1_0_177"/>
          <p:cNvCxnSpPr>
            <a:endCxn id="569" idx="3"/>
          </p:cNvCxnSpPr>
          <p:nvPr/>
        </p:nvCxnSpPr>
        <p:spPr>
          <a:xfrm flipH="1">
            <a:off x="6516675" y="756296"/>
            <a:ext cx="519000" cy="43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9" name="Google Shape;569;g3ba12d0eeb1_0_177"/>
          <p:cNvSpPr/>
          <p:nvPr/>
        </p:nvSpPr>
        <p:spPr>
          <a:xfrm>
            <a:off x="5585475" y="1111796"/>
            <a:ext cx="931200" cy="16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0" name="Google Shape;570;g3ba12d0eeb1_0_177"/>
          <p:cNvCxnSpPr>
            <a:endCxn id="567" idx="0"/>
          </p:cNvCxnSpPr>
          <p:nvPr/>
        </p:nvCxnSpPr>
        <p:spPr>
          <a:xfrm flipH="1">
            <a:off x="6830250" y="760300"/>
            <a:ext cx="193500" cy="105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1" name="Google Shape;571;g3ba12d0eeb1_0_177"/>
          <p:cNvSpPr txBox="1"/>
          <p:nvPr/>
        </p:nvSpPr>
        <p:spPr>
          <a:xfrm>
            <a:off x="7035703" y="156000"/>
            <a:ext cx="184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Sens de l'influence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Plus la distance domicile-travail augmente, plus la valeur SHAP devient positive (risque accru)</a:t>
            </a:r>
            <a:endParaRPr i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g3ba12d0eeb1_0_177"/>
          <p:cNvSpPr/>
          <p:nvPr/>
        </p:nvSpPr>
        <p:spPr>
          <a:xfrm>
            <a:off x="6196025" y="1303750"/>
            <a:ext cx="627000" cy="16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3" name="Google Shape;573;g3ba12d0eeb1_0_177"/>
          <p:cNvCxnSpPr/>
          <p:nvPr/>
        </p:nvCxnSpPr>
        <p:spPr>
          <a:xfrm flipH="1" rot="10800000">
            <a:off x="5182725" y="1484875"/>
            <a:ext cx="1008600" cy="1520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4" name="Google Shape;574;g3ba12d0eeb1_0_177"/>
          <p:cNvSpPr txBox="1"/>
          <p:nvPr/>
        </p:nvSpPr>
        <p:spPr>
          <a:xfrm>
            <a:off x="3392600" y="144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Interprétabilité Globale 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 Beeswarm Plot</a:t>
            </a:r>
            <a:endParaRPr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ba12d0eeb1_0_204"/>
          <p:cNvSpPr txBox="1"/>
          <p:nvPr>
            <p:ph type="title"/>
          </p:nvPr>
        </p:nvSpPr>
        <p:spPr>
          <a:xfrm>
            <a:off x="566488" y="0"/>
            <a:ext cx="263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1600"/>
              <a:t>Interprétation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580" name="Google Shape;580;g3ba12d0eeb1_0_204"/>
          <p:cNvSpPr txBox="1"/>
          <p:nvPr/>
        </p:nvSpPr>
        <p:spPr>
          <a:xfrm>
            <a:off x="-58650" y="0"/>
            <a:ext cx="3747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lang="fr" sz="6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ba12d0eeb1_0_204"/>
          <p:cNvSpPr txBox="1"/>
          <p:nvPr>
            <p:ph type="title"/>
          </p:nvPr>
        </p:nvSpPr>
        <p:spPr>
          <a:xfrm>
            <a:off x="566488" y="356100"/>
            <a:ext cx="28596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FFFF"/>
                </a:solidFill>
              </a:rPr>
              <a:t>Étape 5 : Interprétez le comportement du modèle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1. Évaluation de la Performance Décisionnelle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des courbes ROC et Précision-Rappel.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2. Interprétabilité Globale (Causes du Départ)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Hiérarchie des variables (SHAP Beeswarm Plot).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Analyse de convergence (Comparaison Permutation vs SHAP).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3. Analyse des Dépendances et Corrélations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Sens d'influence des caractéristiques clés (Scatter Plots).</a:t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666666"/>
                </a:solidFill>
              </a:rPr>
              <a:t>Identification de comportements non-linéaires.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4. Interprétabilité Locale : Diagnostic Individuel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Analyse de cas spécifiques (Waterfall Plots).</a:t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FFFF"/>
                </a:solidFill>
              </a:rPr>
              <a:t>Décomposition du risque pour des profils types (Classes 0 et 1).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Montserrat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82" name="Google Shape;582;g3ba12d0eeb1_0_204"/>
          <p:cNvSpPr/>
          <p:nvPr/>
        </p:nvSpPr>
        <p:spPr>
          <a:xfrm>
            <a:off x="3392600" y="71700"/>
            <a:ext cx="5679900" cy="3669600"/>
          </a:xfrm>
          <a:prstGeom prst="roundRect">
            <a:avLst>
              <a:gd fmla="val 1858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" name="Google Shape;583;g3ba12d0eeb1_0_204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FCE5C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" name="Google Shape;584;g3ba12d0eeb1_0_204"/>
          <p:cNvSpPr/>
          <p:nvPr/>
        </p:nvSpPr>
        <p:spPr>
          <a:xfrm>
            <a:off x="3392600" y="3799675"/>
            <a:ext cx="5679900" cy="1257900"/>
          </a:xfrm>
          <a:prstGeom prst="roundRect">
            <a:avLst>
              <a:gd fmla="val 3347" name="adj"/>
            </a:avLst>
          </a:prstGeom>
          <a:solidFill>
            <a:srgbClr val="FCE5C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" name="Google Shape;585;g3ba12d0eeb1_0_204"/>
          <p:cNvSpPr txBox="1"/>
          <p:nvPr/>
        </p:nvSpPr>
        <p:spPr>
          <a:xfrm>
            <a:off x="3462650" y="3855475"/>
            <a:ext cx="55398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</a:t>
            </a:r>
            <a:endParaRPr b="1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Waterfall plot : Explication pour UN employé spécifique (ex: le premier du jeu d'entraînement)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Ce graphique montre quels facteurs ont poussé CET employé vers le départ (1) ou la rétention (0)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print("Analyse individuelle - Employé 0 (Train) :")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shap.plots.waterfall</a:t>
            </a:r>
            <a:r>
              <a:rPr lang="f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(shap_values_train[0])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6" name="Google Shape;586;g3ba12d0eeb1_0_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488" y="356100"/>
            <a:ext cx="3258576" cy="150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g3ba12d0eeb1_0_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950" y="2064704"/>
            <a:ext cx="3231055" cy="1469244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3ba12d0eeb1_0_204"/>
          <p:cNvSpPr txBox="1"/>
          <p:nvPr/>
        </p:nvSpPr>
        <p:spPr>
          <a:xfrm>
            <a:off x="3392600" y="144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Interprétabilité Locale 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Waterfall plot </a:t>
            </a:r>
            <a:endParaRPr>
              <a:solidFill>
                <a:srgbClr val="9900FF"/>
              </a:solidFill>
            </a:endParaRPr>
          </a:p>
        </p:txBody>
      </p:sp>
      <p:cxnSp>
        <p:nvCxnSpPr>
          <p:cNvPr id="589" name="Google Shape;589;g3ba12d0eeb1_0_204"/>
          <p:cNvCxnSpPr/>
          <p:nvPr/>
        </p:nvCxnSpPr>
        <p:spPr>
          <a:xfrm>
            <a:off x="6289100" y="1883525"/>
            <a:ext cx="285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0" name="Google Shape;590;g3ba12d0eeb1_0_204"/>
          <p:cNvSpPr txBox="1"/>
          <p:nvPr/>
        </p:nvSpPr>
        <p:spPr>
          <a:xfrm>
            <a:off x="5246725" y="1702575"/>
            <a:ext cx="125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Valeur de </a:t>
            </a: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référence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Moyenne de la cible </a:t>
            </a:r>
            <a:endParaRPr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g3ba12d0eeb1_0_204"/>
          <p:cNvSpPr/>
          <p:nvPr/>
        </p:nvSpPr>
        <p:spPr>
          <a:xfrm>
            <a:off x="6595459" y="325825"/>
            <a:ext cx="180900" cy="1623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" name="Google Shape;592;g3ba12d0eeb1_0_204"/>
          <p:cNvSpPr/>
          <p:nvPr/>
        </p:nvSpPr>
        <p:spPr>
          <a:xfrm>
            <a:off x="8004038" y="325825"/>
            <a:ext cx="105000" cy="1623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3" name="Google Shape;593;g3ba12d0eeb1_0_204"/>
          <p:cNvSpPr txBox="1"/>
          <p:nvPr/>
        </p:nvSpPr>
        <p:spPr>
          <a:xfrm>
            <a:off x="8457050" y="246750"/>
            <a:ext cx="545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Valeur 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Final 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Predite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4" name="Google Shape;594;g3ba12d0eeb1_0_204"/>
          <p:cNvCxnSpPr/>
          <p:nvPr/>
        </p:nvCxnSpPr>
        <p:spPr>
          <a:xfrm rot="10800000">
            <a:off x="8109050" y="385400"/>
            <a:ext cx="330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5" name="Google Shape;595;g3ba12d0eeb1_0_204"/>
          <p:cNvSpPr txBox="1"/>
          <p:nvPr/>
        </p:nvSpPr>
        <p:spPr>
          <a:xfrm>
            <a:off x="3483375" y="1245420"/>
            <a:ext cx="1476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Longitude 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Impact sur le modele 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Direction (le "Combien")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Lato"/>
                <a:ea typeface="Lato"/>
                <a:cs typeface="Lato"/>
                <a:sym typeface="Lato"/>
              </a:rPr>
              <a:t>• Vers le bas  flèche rose (augmentation du risque)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Lato"/>
                <a:ea typeface="Lato"/>
                <a:cs typeface="Lato"/>
                <a:sym typeface="Lato"/>
              </a:rPr>
              <a:t>• Vers le haut flèche bleue (réduction du risque)</a:t>
            </a:r>
            <a:r>
              <a:rPr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Valeur réelle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f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 standardisée) 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 la caractéristique 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pour cet employé précis.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(le "Pourquoi")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6" name="Google Shape;596;g3ba12d0eeb1_0_204"/>
          <p:cNvCxnSpPr/>
          <p:nvPr/>
        </p:nvCxnSpPr>
        <p:spPr>
          <a:xfrm>
            <a:off x="4207700" y="2496145"/>
            <a:ext cx="81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7" name="Google Shape;597;g3ba12d0eeb1_0_204"/>
          <p:cNvSpPr/>
          <p:nvPr/>
        </p:nvSpPr>
        <p:spPr>
          <a:xfrm>
            <a:off x="5016975" y="2410922"/>
            <a:ext cx="292200" cy="162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8" name="Google Shape;598;g3ba12d0eeb1_0_204"/>
          <p:cNvSpPr txBox="1"/>
          <p:nvPr/>
        </p:nvSpPr>
        <p:spPr>
          <a:xfrm>
            <a:off x="6500125" y="3491875"/>
            <a:ext cx="131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Cheminement du </a:t>
            </a:r>
            <a:r>
              <a:rPr b="1" lang="fr" sz="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modèle</a:t>
            </a:r>
            <a:endParaRPr b="1" sz="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9" name="Google Shape;599;g3ba12d0eeb1_0_204"/>
          <p:cNvCxnSpPr/>
          <p:nvPr/>
        </p:nvCxnSpPr>
        <p:spPr>
          <a:xfrm>
            <a:off x="6451750" y="3562420"/>
            <a:ext cx="1535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600" name="Google Shape;600;g3ba12d0eeb1_0_204"/>
          <p:cNvSpPr txBox="1"/>
          <p:nvPr/>
        </p:nvSpPr>
        <p:spPr>
          <a:xfrm>
            <a:off x="3463124" y="3053675"/>
            <a:ext cx="289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900FF"/>
                </a:solidFill>
                <a:latin typeface="Lato"/>
                <a:ea typeface="Lato"/>
                <a:cs typeface="Lato"/>
                <a:sym typeface="Lato"/>
              </a:rPr>
              <a:t>Valeur de Shapley</a:t>
            </a:r>
            <a:endParaRPr b="1" sz="800">
              <a:solidFill>
                <a:srgbClr val="99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Lato"/>
                <a:ea typeface="Lato"/>
                <a:cs typeface="Lato"/>
                <a:sym typeface="Lato"/>
              </a:rPr>
              <a:t>Impact mathématique de cette 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Lato"/>
                <a:ea typeface="Lato"/>
                <a:cs typeface="Lato"/>
                <a:sym typeface="Lato"/>
              </a:rPr>
              <a:t>donnée sur la prédiction finale.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latin typeface="Lato"/>
                <a:ea typeface="Lato"/>
                <a:cs typeface="Lato"/>
                <a:sym typeface="Lato"/>
              </a:rPr>
              <a:t>Force avec laquelle chaque information (âge, salaire, heures supp) </a:t>
            </a:r>
            <a:endParaRPr sz="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latin typeface="Lato"/>
                <a:ea typeface="Lato"/>
                <a:cs typeface="Lato"/>
                <a:sym typeface="Lato"/>
              </a:rPr>
              <a:t>pousse l'aiguille vers le 'Départ' ou vers la 'Rétention'.</a:t>
            </a:r>
            <a:endParaRPr sz="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" name="Google Shape;601;g3ba12d0eeb1_0_204"/>
          <p:cNvSpPr/>
          <p:nvPr/>
        </p:nvSpPr>
        <p:spPr>
          <a:xfrm>
            <a:off x="6610900" y="3183722"/>
            <a:ext cx="292200" cy="162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2" name="Google Shape;602;g3ba12d0eeb1_0_204"/>
          <p:cNvCxnSpPr/>
          <p:nvPr/>
        </p:nvCxnSpPr>
        <p:spPr>
          <a:xfrm>
            <a:off x="4393900" y="3228825"/>
            <a:ext cx="22437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6"/>
          <p:cNvSpPr txBox="1"/>
          <p:nvPr>
            <p:ph type="title"/>
          </p:nvPr>
        </p:nvSpPr>
        <p:spPr>
          <a:xfrm>
            <a:off x="1111250" y="90000"/>
            <a:ext cx="71976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</a:pPr>
            <a:r>
              <a:rPr b="0" lang="fr" sz="2100" u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Bilan du projet réalisé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6"/>
          <p:cNvSpPr txBox="1"/>
          <p:nvPr>
            <p:ph idx="1" type="body"/>
          </p:nvPr>
        </p:nvSpPr>
        <p:spPr>
          <a:xfrm>
            <a:off x="1111250" y="2766400"/>
            <a:ext cx="79788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</a:pPr>
            <a:r>
              <a:rPr b="1" lang="fr"/>
              <a:t>🚧</a:t>
            </a:r>
            <a:r>
              <a:rPr b="1" i="0" lang="fr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Les défis techniques rencontrés 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fr" sz="1000"/>
              <a:t>Trouver le </a:t>
            </a:r>
            <a:r>
              <a:rPr b="1" lang="fr" sz="1000"/>
              <a:t>moyen</a:t>
            </a:r>
            <a:r>
              <a:rPr b="1" lang="fr" sz="1000"/>
              <a:t> </a:t>
            </a:r>
            <a:r>
              <a:rPr b="1" lang="fr" sz="1000"/>
              <a:t>d'entraîner</a:t>
            </a:r>
            <a:r>
              <a:rPr b="1" lang="fr" sz="1000"/>
              <a:t> un </a:t>
            </a:r>
            <a:r>
              <a:rPr b="1" lang="fr" sz="1000"/>
              <a:t>modèle</a:t>
            </a:r>
            <a:r>
              <a:rPr b="1" lang="fr" sz="1000"/>
              <a:t> </a:t>
            </a:r>
            <a:r>
              <a:rPr b="1" lang="fr" sz="1000"/>
              <a:t> CatBoost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fr" sz="1000"/>
              <a:t>Assurer que le features importance soient équivalents dans les notebooks de Modélisation et Interprétation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fr" sz="1000"/>
              <a:t>Améliorations notables sur les classes auxiliaires </a:t>
            </a:r>
            <a:r>
              <a:rPr b="1" lang="fr" sz="1000">
                <a:solidFill>
                  <a:srgbClr val="93C47D"/>
                </a:solidFill>
              </a:rPr>
              <a:t>DataCleaner</a:t>
            </a:r>
            <a:r>
              <a:rPr b="1" lang="fr" sz="1000"/>
              <a:t> et </a:t>
            </a:r>
            <a:r>
              <a:rPr b="1" lang="fr" sz="1000">
                <a:solidFill>
                  <a:srgbClr val="B6D7A8"/>
                </a:solidFill>
              </a:rPr>
              <a:t>ClassificationModeler </a:t>
            </a:r>
            <a:r>
              <a:rPr b="1" lang="fr" sz="1000">
                <a:solidFill>
                  <a:srgbClr val="FFFFFF"/>
                </a:solidFill>
              </a:rPr>
              <a:t>mais découvert nouveaux points d'optimisation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09" name="Google Shape;609;p16"/>
          <p:cNvSpPr txBox="1"/>
          <p:nvPr>
            <p:ph idx="1" type="body"/>
          </p:nvPr>
        </p:nvSpPr>
        <p:spPr>
          <a:xfrm>
            <a:off x="1111250" y="664600"/>
            <a:ext cx="7467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5"/>
              <a:buNone/>
            </a:pPr>
            <a:r>
              <a:rPr b="1" lang="fr"/>
              <a:t>💡 RECOMMANDATIONS Administratives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6"/>
          <p:cNvSpPr txBox="1"/>
          <p:nvPr/>
        </p:nvSpPr>
        <p:spPr>
          <a:xfrm>
            <a:off x="1366850" y="1023200"/>
            <a:ext cx="7467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Prévention de l'Épuisement (Priorité Haute)</a:t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Action : Mettre en place une alerte RH automatique dès qu'un employé dépasse un certain seuil d'heures supplémentaires sur deux mois consécutifs.</a:t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Parcours de Carrière et Promotion</a:t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Action : Créer des "points de carrière" obligatoires pour tous les employés n'ayant pas eu de promotion depuis plus de 2 ans.</a:t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Protection des Talents Juniors</a:t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Action : Lancer un programme de mentorat spécifique pour les employés ayant moins de 5 ans d'expérience totale.</a:t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7"/>
          <p:cNvSpPr txBox="1"/>
          <p:nvPr>
            <p:ph type="title"/>
          </p:nvPr>
        </p:nvSpPr>
        <p:spPr>
          <a:xfrm>
            <a:off x="3894120" y="2255040"/>
            <a:ext cx="1355400" cy="633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</a:pPr>
            <a:r>
              <a:rPr b="0" lang="fr" sz="2400" u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 &amp; A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7"/>
          <p:cNvSpPr txBox="1"/>
          <p:nvPr>
            <p:ph idx="1" type="body"/>
          </p:nvPr>
        </p:nvSpPr>
        <p:spPr>
          <a:xfrm>
            <a:off x="2862205" y="4327935"/>
            <a:ext cx="34704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</a:pPr>
            <a:r>
              <a:rPr b="0" i="0" lang="fr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Rafael CEREZO MARTIN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300"/>
              <a:buFont typeface="Lato"/>
              <a:buNone/>
            </a:pPr>
            <a:r>
              <a:rPr lang="fr" sz="1200"/>
              <a:t>Janvier</a:t>
            </a:r>
            <a:r>
              <a:rPr b="0" i="0" lang="fr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202</a:t>
            </a:r>
            <a:r>
              <a:rPr lang="fr" sz="1200"/>
              <a:t>6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